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5143500" cx="9144000"/>
  <p:notesSz cx="6858000" cy="9144000"/>
  <p:embeddedFontLst>
    <p:embeddedFont>
      <p:font typeface="Raleway"/>
      <p:regular r:id="rId16"/>
      <p:bold r:id="rId17"/>
      <p:italic r:id="rId18"/>
      <p:boldItalic r:id="rId19"/>
    </p:embeddedFont>
    <p:embeddedFont>
      <p:font typeface="Lato"/>
      <p:regular r:id="rId20"/>
      <p:bold r:id="rId21"/>
      <p:italic r:id="rId22"/>
      <p:boldItalic r:id="rId2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Lato-regular.fntdata"/><Relationship Id="rId11" Type="http://schemas.openxmlformats.org/officeDocument/2006/relationships/slide" Target="slides/slide6.xml"/><Relationship Id="rId22" Type="http://schemas.openxmlformats.org/officeDocument/2006/relationships/font" Target="fonts/Lato-italic.fntdata"/><Relationship Id="rId10" Type="http://schemas.openxmlformats.org/officeDocument/2006/relationships/slide" Target="slides/slide5.xml"/><Relationship Id="rId21" Type="http://schemas.openxmlformats.org/officeDocument/2006/relationships/font" Target="fonts/Lato-bold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23" Type="http://schemas.openxmlformats.org/officeDocument/2006/relationships/font" Target="fonts/Lato-bold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Raleway-bold.fntdata"/><Relationship Id="rId16" Type="http://schemas.openxmlformats.org/officeDocument/2006/relationships/font" Target="fonts/Raleway-regular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Raleway-boldItalic.fntdata"/><Relationship Id="rId6" Type="http://schemas.openxmlformats.org/officeDocument/2006/relationships/slide" Target="slides/slide1.xml"/><Relationship Id="rId18" Type="http://schemas.openxmlformats.org/officeDocument/2006/relationships/font" Target="fonts/Raleway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a09b88d598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a09b88d598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a09b88d598_0_1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3a09b88d598_0_1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a20438a6b0_0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3a20438a6b0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a20438a6b0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3a20438a6b0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a20438a6b0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3a20438a6b0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a20438a6b0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3a20438a6b0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a20438a6b0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3a20438a6b0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a20438a6b0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3a20438a6b0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a20438a6b0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3a20438a6b0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Google Shape;10;p2"/>
          <p:cNvCxnSpPr/>
          <p:nvPr/>
        </p:nvCxnSpPr>
        <p:spPr>
          <a:xfrm>
            <a:off x="2477724" y="415650"/>
            <a:ext cx="6244200" cy="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" name="Google Shape;11;p2"/>
          <p:cNvCxnSpPr/>
          <p:nvPr/>
        </p:nvCxnSpPr>
        <p:spPr>
          <a:xfrm>
            <a:off x="2477724" y="4740000"/>
            <a:ext cx="62442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" name="Google Shape;12;p2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" name="Google Shape;13;p2"/>
          <p:cNvSpPr txBox="1"/>
          <p:nvPr>
            <p:ph type="ctrTitle"/>
          </p:nvPr>
        </p:nvSpPr>
        <p:spPr>
          <a:xfrm>
            <a:off x="2371725" y="630225"/>
            <a:ext cx="6331500" cy="154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" type="subTitle"/>
          </p:nvPr>
        </p:nvSpPr>
        <p:spPr>
          <a:xfrm>
            <a:off x="2390267" y="3238450"/>
            <a:ext cx="6331500" cy="1241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5" name="Google Shape;15;p2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Google Shape;17;p3"/>
          <p:cNvCxnSpPr/>
          <p:nvPr/>
        </p:nvCxnSpPr>
        <p:spPr>
          <a:xfrm>
            <a:off x="425200" y="415650"/>
            <a:ext cx="8296800" cy="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8" name="Google Shape;18;p3"/>
          <p:cNvCxnSpPr/>
          <p:nvPr/>
        </p:nvCxnSpPr>
        <p:spPr>
          <a:xfrm>
            <a:off x="425200" y="4740000"/>
            <a:ext cx="82968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9" name="Google Shape;19;p3"/>
          <p:cNvSpPr txBox="1"/>
          <p:nvPr>
            <p:ph type="title"/>
          </p:nvPr>
        </p:nvSpPr>
        <p:spPr>
          <a:xfrm>
            <a:off x="406425" y="1806825"/>
            <a:ext cx="8296800" cy="1542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Google Shape;22;p4"/>
          <p:cNvCxnSpPr/>
          <p:nvPr/>
        </p:nvCxnSpPr>
        <p:spPr>
          <a:xfrm>
            <a:off x="2477724" y="415650"/>
            <a:ext cx="62442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3" name="Google Shape;23;p4"/>
          <p:cNvCxnSpPr/>
          <p:nvPr/>
        </p:nvCxnSpPr>
        <p:spPr>
          <a:xfrm>
            <a:off x="2477724" y="4740000"/>
            <a:ext cx="62442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4" name="Google Shape;24;p4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5" name="Google Shape;25;p4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" type="body"/>
          </p:nvPr>
        </p:nvSpPr>
        <p:spPr>
          <a:xfrm>
            <a:off x="2410112" y="1595776"/>
            <a:ext cx="6321600" cy="30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7" name="Google Shape;27;p4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9" name="Google Shape;29;p5"/>
          <p:cNvCxnSpPr/>
          <p:nvPr/>
        </p:nvCxnSpPr>
        <p:spPr>
          <a:xfrm>
            <a:off x="2477724" y="415650"/>
            <a:ext cx="62442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0" name="Google Shape;30;p5"/>
          <p:cNvCxnSpPr/>
          <p:nvPr/>
        </p:nvCxnSpPr>
        <p:spPr>
          <a:xfrm>
            <a:off x="2477724" y="4740000"/>
            <a:ext cx="62442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1" name="Google Shape;31;p5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2" name="Google Shape;32;p5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3" name="Google Shape;33;p5"/>
          <p:cNvSpPr txBox="1"/>
          <p:nvPr>
            <p:ph idx="1" type="body"/>
          </p:nvPr>
        </p:nvSpPr>
        <p:spPr>
          <a:xfrm>
            <a:off x="2400303" y="1602675"/>
            <a:ext cx="3071400" cy="30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4" name="Google Shape;34;p5"/>
          <p:cNvSpPr txBox="1"/>
          <p:nvPr>
            <p:ph idx="2" type="body"/>
          </p:nvPr>
        </p:nvSpPr>
        <p:spPr>
          <a:xfrm>
            <a:off x="5650572" y="1602675"/>
            <a:ext cx="3071400" cy="30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5" name="Google Shape;35;p5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6"/>
          <p:cNvSpPr txBox="1"/>
          <p:nvPr>
            <p:ph type="title"/>
          </p:nvPr>
        </p:nvSpPr>
        <p:spPr>
          <a:xfrm>
            <a:off x="303300" y="411575"/>
            <a:ext cx="8520600" cy="63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0" name="Google Shape;40;p7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1" name="Google Shape;41;p7"/>
          <p:cNvSpPr txBox="1"/>
          <p:nvPr>
            <p:ph type="title"/>
          </p:nvPr>
        </p:nvSpPr>
        <p:spPr>
          <a:xfrm>
            <a:off x="319500" y="936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319500" y="1846804"/>
            <a:ext cx="2808000" cy="280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3" name="Google Shape;43;p7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lt2"/>
        </a:solidFill>
      </p:bgPr>
    </p:bg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5" name="Google Shape;45;p8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6" name="Google Shape;46;p8"/>
          <p:cNvSpPr txBox="1"/>
          <p:nvPr>
            <p:ph type="title"/>
          </p:nvPr>
        </p:nvSpPr>
        <p:spPr>
          <a:xfrm>
            <a:off x="283103" y="712141"/>
            <a:ext cx="6244200" cy="3835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7" name="Google Shape;47;p8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9"/>
          <p:cNvSpPr/>
          <p:nvPr/>
        </p:nvSpPr>
        <p:spPr>
          <a:xfrm>
            <a:off x="4572000" y="12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50" name="Google Shape;50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1" name="Google Shape;51;p9"/>
          <p:cNvSpPr txBox="1"/>
          <p:nvPr>
            <p:ph type="title"/>
          </p:nvPr>
        </p:nvSpPr>
        <p:spPr>
          <a:xfrm>
            <a:off x="265500" y="1397350"/>
            <a:ext cx="4045200" cy="1318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2" name="Google Shape;52;p9"/>
          <p:cNvSpPr txBox="1"/>
          <p:nvPr>
            <p:ph idx="1" type="subTitle"/>
          </p:nvPr>
        </p:nvSpPr>
        <p:spPr>
          <a:xfrm>
            <a:off x="265500" y="273537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3" name="Google Shape;53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4" name="Google Shape;54;p9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6" name="Google Shape;56;p10"/>
          <p:cNvCxnSpPr/>
          <p:nvPr/>
        </p:nvCxnSpPr>
        <p:spPr>
          <a:xfrm>
            <a:off x="425200" y="4740000"/>
            <a:ext cx="82968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7" name="Google Shape;57;p10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8" name="Google Shape;58;p10"/>
          <p:cNvSpPr txBox="1"/>
          <p:nvPr>
            <p:ph idx="1" type="body"/>
          </p:nvPr>
        </p:nvSpPr>
        <p:spPr>
          <a:xfrm>
            <a:off x="328017" y="4226025"/>
            <a:ext cx="83886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59" name="Google Shape;59;p10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1" name="Google Shape;61;p11"/>
          <p:cNvCxnSpPr/>
          <p:nvPr/>
        </p:nvCxnSpPr>
        <p:spPr>
          <a:xfrm>
            <a:off x="425200" y="4740000"/>
            <a:ext cx="82968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2" name="Google Shape;62;p11"/>
          <p:cNvCxnSpPr/>
          <p:nvPr/>
        </p:nvCxnSpPr>
        <p:spPr>
          <a:xfrm>
            <a:off x="425200" y="415650"/>
            <a:ext cx="82968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3" name="Google Shape;63;p11"/>
          <p:cNvSpPr txBox="1"/>
          <p:nvPr>
            <p:ph hasCustomPrompt="1" type="title"/>
          </p:nvPr>
        </p:nvSpPr>
        <p:spPr>
          <a:xfrm>
            <a:off x="853950" y="1304850"/>
            <a:ext cx="7436100" cy="153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r>
              <a:t>xx%</a:t>
            </a:r>
          </a:p>
        </p:txBody>
      </p:sp>
      <p:sp>
        <p:nvSpPr>
          <p:cNvPr id="64" name="Google Shape;64;p11"/>
          <p:cNvSpPr txBox="1"/>
          <p:nvPr>
            <p:ph idx="1" type="body"/>
          </p:nvPr>
        </p:nvSpPr>
        <p:spPr>
          <a:xfrm>
            <a:off x="853950" y="2919450"/>
            <a:ext cx="7436100" cy="10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5" name="Google Shape;65;p11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2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wiss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2410112" y="1595776"/>
            <a:ext cx="6321600" cy="300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ato"/>
              <a:buChar char="●"/>
              <a:defRPr sz="1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■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●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■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●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■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Relationship Id="rId3" Type="http://schemas.openxmlformats.org/officeDocument/2006/relationships/hyperlink" Target="http://www.youtube.com/watch?v=_W0bSen8Qjg" TargetMode="External"/><Relationship Id="rId4" Type="http://schemas.openxmlformats.org/officeDocument/2006/relationships/image" Target="../media/image1.jpg"/><Relationship Id="rId5" Type="http://schemas.openxmlformats.org/officeDocument/2006/relationships/image" Target="../media/image3.jpg"/><Relationship Id="rId6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8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0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9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3"/>
          <p:cNvSpPr txBox="1"/>
          <p:nvPr>
            <p:ph type="title"/>
          </p:nvPr>
        </p:nvSpPr>
        <p:spPr>
          <a:xfrm>
            <a:off x="731425" y="319325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Daily Typing Do-Now</a:t>
            </a:r>
            <a:endParaRPr/>
          </a:p>
        </p:txBody>
      </p:sp>
      <p:sp>
        <p:nvSpPr>
          <p:cNvPr id="73" name="Google Shape;73;p13"/>
          <p:cNvSpPr txBox="1"/>
          <p:nvPr>
            <p:ph idx="1" type="body"/>
          </p:nvPr>
        </p:nvSpPr>
        <p:spPr>
          <a:xfrm>
            <a:off x="819150" y="911100"/>
            <a:ext cx="7505700" cy="332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AutoNum type="arabicPeriod"/>
            </a:pPr>
            <a:r>
              <a:rPr lang="en" sz="2400"/>
              <a:t>Open typing.com</a:t>
            </a:r>
            <a:endParaRPr sz="2400"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AutoNum type="arabicPeriod"/>
            </a:pPr>
            <a:r>
              <a:rPr lang="en" sz="2400"/>
              <a:t>Log into your account</a:t>
            </a:r>
            <a:endParaRPr sz="2400"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AutoNum type="arabicPeriod"/>
            </a:pPr>
            <a:r>
              <a:rPr lang="en" sz="2400"/>
              <a:t>Complete a 1 minute typing test</a:t>
            </a:r>
            <a:endParaRPr sz="2400"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AutoNum type="arabicPeriod"/>
            </a:pPr>
            <a:r>
              <a:rPr lang="en" sz="2400"/>
              <a:t>With the remaining 4 minutes</a:t>
            </a:r>
            <a:endParaRPr sz="2400"/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AutoNum type="alphaLcPeriod"/>
            </a:pPr>
            <a:r>
              <a:rPr lang="en" sz="2400"/>
              <a:t>Work on a typing lesson</a:t>
            </a:r>
            <a:endParaRPr sz="2400"/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AutoNum type="alphaLcPeriod"/>
            </a:pPr>
            <a:r>
              <a:rPr lang="en" sz="2400"/>
              <a:t>Play a typing game</a:t>
            </a:r>
            <a:endParaRPr sz="2400"/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AutoNum type="alphaLcPeriod"/>
            </a:pPr>
            <a:r>
              <a:rPr lang="en" sz="2400"/>
              <a:t>Complete more typing tests</a:t>
            </a:r>
            <a:endParaRPr sz="2400"/>
          </a:p>
        </p:txBody>
      </p:sp>
      <p:pic>
        <p:nvPicPr>
          <p:cNvPr descr="This timer counts down silently until it reaches 0:00, then a police siren sounds to alert you that time is up." id="74" name="Google Shape;74;p13" title="5 Minute Timer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573625" y="1714500"/>
            <a:ext cx="3048000" cy="1714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5" name="Google Shape;75;p13" title="istockphoto-1305893663-612x612.jp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83300" y="3429000"/>
            <a:ext cx="1343775" cy="1343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76" name="Google Shape;76;p13" title="download.png"/>
          <p:cNvPicPr preferRelativeResize="0"/>
          <p:nvPr/>
        </p:nvPicPr>
        <p:blipFill rotWithShape="1">
          <a:blip r:embed="rId6">
            <a:alphaModFix/>
          </a:blip>
          <a:srcRect b="0" l="0" r="14259" t="0"/>
          <a:stretch/>
        </p:blipFill>
        <p:spPr>
          <a:xfrm>
            <a:off x="7632175" y="3534675"/>
            <a:ext cx="1208725" cy="140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4"/>
          <p:cNvSpPr txBox="1"/>
          <p:nvPr>
            <p:ph type="ctrTitle"/>
          </p:nvPr>
        </p:nvSpPr>
        <p:spPr>
          <a:xfrm>
            <a:off x="2371725" y="630225"/>
            <a:ext cx="6331500" cy="154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Modern AI &amp; Neural Networks</a:t>
            </a:r>
            <a:endParaRPr/>
          </a:p>
        </p:txBody>
      </p:sp>
      <p:sp>
        <p:nvSpPr>
          <p:cNvPr id="82" name="Google Shape;82;p14"/>
          <p:cNvSpPr txBox="1"/>
          <p:nvPr>
            <p:ph idx="1" type="subTitle"/>
          </p:nvPr>
        </p:nvSpPr>
        <p:spPr>
          <a:xfrm>
            <a:off x="2390267" y="3238450"/>
            <a:ext cx="6331500" cy="1241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Intro to Computer Science</a:t>
            </a:r>
            <a:endParaRPr sz="30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5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Schedule</a:t>
            </a:r>
            <a:endParaRPr/>
          </a:p>
        </p:txBody>
      </p:sp>
      <p:sp>
        <p:nvSpPr>
          <p:cNvPr id="88" name="Google Shape;88;p15"/>
          <p:cNvSpPr txBox="1"/>
          <p:nvPr>
            <p:ph idx="1" type="body"/>
          </p:nvPr>
        </p:nvSpPr>
        <p:spPr>
          <a:xfrm>
            <a:off x="2410100" y="1143775"/>
            <a:ext cx="6321600" cy="345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Week 14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Monday - Neural Networks Structures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Tuesday - Language Modeling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Wednesday - LLMs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Thursday - Neural Network Coding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Friday - Modify Classifier Project</a:t>
            </a:r>
            <a:endParaRPr/>
          </a:p>
        </p:txBody>
      </p:sp>
      <p:pic>
        <p:nvPicPr>
          <p:cNvPr id="89" name="Google Shape;89;p15" title="FREE-Calendar-Clipart-with-outline-W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5425" y="1519088"/>
            <a:ext cx="2105313" cy="21053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6"/>
          <p:cNvSpPr txBox="1"/>
          <p:nvPr>
            <p:ph type="title"/>
          </p:nvPr>
        </p:nvSpPr>
        <p:spPr>
          <a:xfrm>
            <a:off x="311700" y="68025"/>
            <a:ext cx="8520600" cy="63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Tasks in Machine Learning</a:t>
            </a:r>
            <a:endParaRPr/>
          </a:p>
        </p:txBody>
      </p:sp>
      <p:pic>
        <p:nvPicPr>
          <p:cNvPr id="95" name="Google Shape;95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45550" y="707625"/>
            <a:ext cx="6652900" cy="43214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7"/>
          <p:cNvSpPr txBox="1"/>
          <p:nvPr>
            <p:ph type="title"/>
          </p:nvPr>
        </p:nvSpPr>
        <p:spPr>
          <a:xfrm>
            <a:off x="2412900" y="423925"/>
            <a:ext cx="6321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Neural Networks</a:t>
            </a:r>
            <a:endParaRPr/>
          </a:p>
        </p:txBody>
      </p:sp>
      <p:pic>
        <p:nvPicPr>
          <p:cNvPr id="101" name="Google Shape;101;p17" title="An-example-of-a-deep-neural-network-with-two-hidden-layers-The-first-layer-is-the-input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61677" y="996000"/>
            <a:ext cx="5220626" cy="3679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8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AlexNet (2012)</a:t>
            </a:r>
            <a:endParaRPr/>
          </a:p>
        </p:txBody>
      </p:sp>
      <p:sp>
        <p:nvSpPr>
          <p:cNvPr id="107" name="Google Shape;107;p18"/>
          <p:cNvSpPr txBox="1"/>
          <p:nvPr>
            <p:ph idx="1" type="body"/>
          </p:nvPr>
        </p:nvSpPr>
        <p:spPr>
          <a:xfrm>
            <a:off x="5873924" y="1155525"/>
            <a:ext cx="2857800" cy="3442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Could predict if an object was one of 1,000 distinct categories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Used an 8 layer neural network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Each image was given 224 x 224 resolution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57.1% Accuracy</a:t>
            </a:r>
            <a:endParaRPr/>
          </a:p>
        </p:txBody>
      </p:sp>
      <p:pic>
        <p:nvPicPr>
          <p:cNvPr id="108" name="Google Shape;108;p18" title="remotesensing-09-00848-g00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399375"/>
            <a:ext cx="5687598" cy="30024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9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Facebook DeepFace (2014)</a:t>
            </a:r>
            <a:endParaRPr/>
          </a:p>
        </p:txBody>
      </p:sp>
      <p:sp>
        <p:nvSpPr>
          <p:cNvPr id="114" name="Google Shape;114;p19"/>
          <p:cNvSpPr txBox="1"/>
          <p:nvPr>
            <p:ph idx="1" type="body"/>
          </p:nvPr>
        </p:nvSpPr>
        <p:spPr>
          <a:xfrm>
            <a:off x="2996850" y="1211350"/>
            <a:ext cx="5734800" cy="338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-"/>
            </a:pPr>
            <a:r>
              <a:rPr lang="en" sz="2400"/>
              <a:t>Could classify its 1 billion users by face</a:t>
            </a:r>
            <a:endParaRPr sz="2400"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-"/>
            </a:pPr>
            <a:r>
              <a:rPr lang="en" sz="2400"/>
              <a:t>Achieved 97.35% accuracy on facial recognition</a:t>
            </a:r>
            <a:endParaRPr sz="2400"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-"/>
            </a:pPr>
            <a:r>
              <a:rPr lang="en" sz="2400"/>
              <a:t>Utilized a 9 layer neural network</a:t>
            </a:r>
            <a:endParaRPr sz="2400"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-"/>
            </a:pPr>
            <a:r>
              <a:rPr lang="en" sz="2400"/>
              <a:t>Scales</a:t>
            </a:r>
            <a:r>
              <a:rPr lang="en" sz="2400"/>
              <a:t> faces down to a 152x152 image</a:t>
            </a:r>
            <a:endParaRPr sz="2400"/>
          </a:p>
        </p:txBody>
      </p:sp>
      <p:pic>
        <p:nvPicPr>
          <p:cNvPr id="115" name="Google Shape;115;p19" title="zuckerberg-face-recognition.jpg"/>
          <p:cNvPicPr preferRelativeResize="0"/>
          <p:nvPr/>
        </p:nvPicPr>
        <p:blipFill rotWithShape="1">
          <a:blip r:embed="rId3">
            <a:alphaModFix/>
          </a:blip>
          <a:srcRect b="0" l="27012" r="28836" t="0"/>
          <a:stretch/>
        </p:blipFill>
        <p:spPr>
          <a:xfrm>
            <a:off x="70450" y="1258925"/>
            <a:ext cx="2621074" cy="33392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0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AlphaG0 (2016)</a:t>
            </a:r>
            <a:endParaRPr/>
          </a:p>
        </p:txBody>
      </p:sp>
      <p:sp>
        <p:nvSpPr>
          <p:cNvPr id="121" name="Google Shape;121;p20"/>
          <p:cNvSpPr txBox="1"/>
          <p:nvPr>
            <p:ph idx="1" type="body"/>
          </p:nvPr>
        </p:nvSpPr>
        <p:spPr>
          <a:xfrm>
            <a:off x="4441250" y="1211350"/>
            <a:ext cx="4290600" cy="338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-"/>
            </a:pPr>
            <a:r>
              <a:rPr lang="en" sz="2000"/>
              <a:t>Go is a strategy game invented in China 2,500 years ago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-"/>
            </a:pPr>
            <a:r>
              <a:rPr lang="en" sz="2000"/>
              <a:t>It is a vastly more complex game then chess and is much more open ended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-"/>
            </a:pPr>
            <a:r>
              <a:rPr lang="en" sz="2000"/>
              <a:t>A team at google used a neural network to defeat the best Go players in 2016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-"/>
            </a:pPr>
            <a:r>
              <a:rPr lang="en" sz="2000"/>
              <a:t>AlphaGo used a 13 layer neural network</a:t>
            </a:r>
            <a:endParaRPr sz="2000"/>
          </a:p>
        </p:txBody>
      </p:sp>
      <p:pic>
        <p:nvPicPr>
          <p:cNvPr id="122" name="Google Shape;122;p20" title="_88738430_pic1go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8075" y="1754425"/>
            <a:ext cx="3695199" cy="2078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1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AlphaFold</a:t>
            </a:r>
            <a:r>
              <a:rPr lang="en"/>
              <a:t> (2018)</a:t>
            </a:r>
            <a:endParaRPr/>
          </a:p>
        </p:txBody>
      </p:sp>
      <p:sp>
        <p:nvSpPr>
          <p:cNvPr id="128" name="Google Shape;128;p21"/>
          <p:cNvSpPr txBox="1"/>
          <p:nvPr>
            <p:ph idx="1" type="body"/>
          </p:nvPr>
        </p:nvSpPr>
        <p:spPr>
          <a:xfrm>
            <a:off x="3513550" y="1211350"/>
            <a:ext cx="5217900" cy="338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A team at Google used neural networks to discover the 3D structures of various proteins</a:t>
            </a:r>
            <a:endParaRPr/>
          </a:p>
          <a:p>
            <a:pPr indent="-34290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This is a very difficult task</a:t>
            </a:r>
            <a:endParaRPr/>
          </a:p>
          <a:p>
            <a:pPr indent="-34290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Created a database of 365,000 unique proteins</a:t>
            </a:r>
            <a:endParaRPr/>
          </a:p>
          <a:p>
            <a:pPr indent="-34290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Google used a  50 layer neural network to complete this task</a:t>
            </a:r>
            <a:endParaRPr/>
          </a:p>
          <a:p>
            <a:pPr indent="-34290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This yielded massive scientific and medical benefits</a:t>
            </a:r>
            <a:endParaRPr/>
          </a:p>
          <a:p>
            <a:pPr indent="-34290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Covid Vaccines were developed using these models</a:t>
            </a:r>
            <a:endParaRPr/>
          </a:p>
        </p:txBody>
      </p:sp>
      <p:pic>
        <p:nvPicPr>
          <p:cNvPr id="129" name="Google Shape;129;p21" title="Protein_folding_figur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3325" y="1152375"/>
            <a:ext cx="2997100" cy="3542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2"/>
          <p:cNvSpPr txBox="1"/>
          <p:nvPr>
            <p:ph type="title"/>
          </p:nvPr>
        </p:nvSpPr>
        <p:spPr>
          <a:xfrm>
            <a:off x="283103" y="712141"/>
            <a:ext cx="6244200" cy="3835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Tensorflow Playground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wiss">
  <a:themeElements>
    <a:clrScheme name="Swiss">
      <a:dk1>
        <a:srgbClr val="F46524"/>
      </a:dk1>
      <a:lt1>
        <a:srgbClr val="FFFFFF"/>
      </a:lt1>
      <a:dk2>
        <a:srgbClr val="000000"/>
      </a:dk2>
      <a:lt2>
        <a:srgbClr val="757575"/>
      </a:lt2>
      <a:accent1>
        <a:srgbClr val="01579B"/>
      </a:accent1>
      <a:accent2>
        <a:srgbClr val="27C7BD"/>
      </a:accent2>
      <a:accent3>
        <a:srgbClr val="0099E8"/>
      </a:accent3>
      <a:accent4>
        <a:srgbClr val="51B9A3"/>
      </a:accent4>
      <a:accent5>
        <a:srgbClr val="FB8C00"/>
      </a:accent5>
      <a:accent6>
        <a:srgbClr val="FFAE88"/>
      </a:accent6>
      <a:hlink>
        <a:srgbClr val="0277BD"/>
      </a:hlink>
      <a:folHlink>
        <a:srgbClr val="0277B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