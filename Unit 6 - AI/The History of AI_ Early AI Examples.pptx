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Roboto"/>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09b97923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09b97923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09b97923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09b97923b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879388f6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879388f6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879388f6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879388f6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879388f6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879388f6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879388f62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879388f62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9879388f6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9879388f6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879388f6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879388f6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9879388f6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9879388f6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045523d5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045523d5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879388f6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9879388f62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879388f62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9879388f62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879388f6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879388f6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879388f62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879388f62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www.youtube.com/watch?v=_W0bSen8Qjg" TargetMode="External"/><Relationship Id="rId4" Type="http://schemas.openxmlformats.org/officeDocument/2006/relationships/image" Target="../media/image1.jpg"/><Relationship Id="rId5" Type="http://schemas.openxmlformats.org/officeDocument/2006/relationships/image" Target="../media/image3.jp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0anIyVGeWOI" TargetMode="Externa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aSqLS8s2B4c" TargetMode="Externa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title"/>
          </p:nvPr>
        </p:nvSpPr>
        <p:spPr>
          <a:xfrm>
            <a:off x="731425" y="3193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Daily Typing Do-Now</a:t>
            </a:r>
            <a:endParaRPr/>
          </a:p>
        </p:txBody>
      </p:sp>
      <p:sp>
        <p:nvSpPr>
          <p:cNvPr id="73" name="Google Shape;73;p13"/>
          <p:cNvSpPr txBox="1"/>
          <p:nvPr>
            <p:ph idx="1" type="body"/>
          </p:nvPr>
        </p:nvSpPr>
        <p:spPr>
          <a:xfrm>
            <a:off x="819150" y="911100"/>
            <a:ext cx="7505700" cy="33213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arabicPeriod"/>
            </a:pPr>
            <a:r>
              <a:rPr lang="en" sz="2400"/>
              <a:t>Open typing.com</a:t>
            </a:r>
            <a:endParaRPr sz="2400"/>
          </a:p>
          <a:p>
            <a:pPr indent="-381000" lvl="0" marL="457200" rtl="0" algn="l">
              <a:spcBef>
                <a:spcPts val="0"/>
              </a:spcBef>
              <a:spcAft>
                <a:spcPts val="0"/>
              </a:spcAft>
              <a:buSzPts val="2400"/>
              <a:buAutoNum type="arabicPeriod"/>
            </a:pPr>
            <a:r>
              <a:rPr lang="en" sz="2400"/>
              <a:t>Log into your account</a:t>
            </a:r>
            <a:endParaRPr sz="2400"/>
          </a:p>
          <a:p>
            <a:pPr indent="-381000" lvl="0" marL="457200" rtl="0" algn="l">
              <a:spcBef>
                <a:spcPts val="0"/>
              </a:spcBef>
              <a:spcAft>
                <a:spcPts val="0"/>
              </a:spcAft>
              <a:buSzPts val="2400"/>
              <a:buAutoNum type="arabicPeriod"/>
            </a:pPr>
            <a:r>
              <a:rPr lang="en" sz="2400"/>
              <a:t>Complete a 1 minute typing test</a:t>
            </a:r>
            <a:endParaRPr sz="2400"/>
          </a:p>
          <a:p>
            <a:pPr indent="-381000" lvl="0" marL="457200" rtl="0" algn="l">
              <a:spcBef>
                <a:spcPts val="0"/>
              </a:spcBef>
              <a:spcAft>
                <a:spcPts val="0"/>
              </a:spcAft>
              <a:buSzPts val="2400"/>
              <a:buAutoNum type="arabicPeriod"/>
            </a:pPr>
            <a:r>
              <a:rPr lang="en" sz="2400"/>
              <a:t>With the remaining 4 minutes</a:t>
            </a:r>
            <a:endParaRPr sz="2400"/>
          </a:p>
          <a:p>
            <a:pPr indent="-381000" lvl="1" marL="914400" rtl="0" algn="l">
              <a:spcBef>
                <a:spcPts val="0"/>
              </a:spcBef>
              <a:spcAft>
                <a:spcPts val="0"/>
              </a:spcAft>
              <a:buSzPts val="2400"/>
              <a:buAutoNum type="alphaLcPeriod"/>
            </a:pPr>
            <a:r>
              <a:rPr lang="en" sz="2400"/>
              <a:t>Work on a typing lesson</a:t>
            </a:r>
            <a:endParaRPr sz="2400"/>
          </a:p>
          <a:p>
            <a:pPr indent="-381000" lvl="1" marL="914400" rtl="0" algn="l">
              <a:spcBef>
                <a:spcPts val="0"/>
              </a:spcBef>
              <a:spcAft>
                <a:spcPts val="0"/>
              </a:spcAft>
              <a:buSzPts val="2400"/>
              <a:buAutoNum type="alphaLcPeriod"/>
            </a:pPr>
            <a:r>
              <a:rPr lang="en" sz="2400"/>
              <a:t>Play a typing game</a:t>
            </a:r>
            <a:endParaRPr sz="2400"/>
          </a:p>
          <a:p>
            <a:pPr indent="-381000" lvl="1" marL="914400" rtl="0" algn="l">
              <a:spcBef>
                <a:spcPts val="0"/>
              </a:spcBef>
              <a:spcAft>
                <a:spcPts val="0"/>
              </a:spcAft>
              <a:buSzPts val="2400"/>
              <a:buAutoNum type="alphaLcPeriod"/>
            </a:pPr>
            <a:r>
              <a:rPr lang="en" sz="2400"/>
              <a:t>Complete more typing tests</a:t>
            </a:r>
            <a:endParaRPr sz="2400"/>
          </a:p>
        </p:txBody>
      </p:sp>
      <p:pic>
        <p:nvPicPr>
          <p:cNvPr descr="This timer counts down silently until it reaches 0:00, then a police siren sounds to alert you that time is up." id="74" name="Google Shape;74;p13" title="5 Minute Timer">
            <a:hlinkClick r:id="rId3"/>
          </p:cNvPr>
          <p:cNvPicPr preferRelativeResize="0"/>
          <p:nvPr/>
        </p:nvPicPr>
        <p:blipFill>
          <a:blip r:embed="rId4">
            <a:alphaModFix/>
          </a:blip>
          <a:stretch>
            <a:fillRect/>
          </a:stretch>
        </p:blipFill>
        <p:spPr>
          <a:xfrm>
            <a:off x="5573625" y="1714500"/>
            <a:ext cx="3048000" cy="1714500"/>
          </a:xfrm>
          <a:prstGeom prst="rect">
            <a:avLst/>
          </a:prstGeom>
          <a:noFill/>
          <a:ln>
            <a:noFill/>
          </a:ln>
        </p:spPr>
      </p:pic>
      <p:pic>
        <p:nvPicPr>
          <p:cNvPr id="75" name="Google Shape;75;p13" title="istockphoto-1305893663-612x612.jpg"/>
          <p:cNvPicPr preferRelativeResize="0"/>
          <p:nvPr/>
        </p:nvPicPr>
        <p:blipFill>
          <a:blip r:embed="rId5">
            <a:alphaModFix/>
          </a:blip>
          <a:stretch>
            <a:fillRect/>
          </a:stretch>
        </p:blipFill>
        <p:spPr>
          <a:xfrm>
            <a:off x="283300" y="3429000"/>
            <a:ext cx="1343775" cy="1343775"/>
          </a:xfrm>
          <a:prstGeom prst="rect">
            <a:avLst/>
          </a:prstGeom>
          <a:noFill/>
          <a:ln>
            <a:noFill/>
          </a:ln>
        </p:spPr>
      </p:pic>
      <p:pic>
        <p:nvPicPr>
          <p:cNvPr id="76" name="Google Shape;76;p13" title="download.png"/>
          <p:cNvPicPr preferRelativeResize="0"/>
          <p:nvPr/>
        </p:nvPicPr>
        <p:blipFill rotWithShape="1">
          <a:blip r:embed="rId6">
            <a:alphaModFix/>
          </a:blip>
          <a:srcRect b="0" l="0" r="14259" t="0"/>
          <a:stretch/>
        </p:blipFill>
        <p:spPr>
          <a:xfrm>
            <a:off x="7632175" y="3534675"/>
            <a:ext cx="1208725" cy="140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4"/>
          <p:cNvSpPr txBox="1"/>
          <p:nvPr>
            <p:ph type="ctrTitle"/>
          </p:nvPr>
        </p:nvSpPr>
        <p:spPr>
          <a:xfrm>
            <a:off x="2371725" y="630225"/>
            <a:ext cx="6331500" cy="1542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Early AI</a:t>
            </a:r>
            <a:endParaRPr/>
          </a:p>
          <a:p>
            <a:pPr indent="0" lvl="0" marL="0" rtl="0" algn="l">
              <a:spcBef>
                <a:spcPts val="0"/>
              </a:spcBef>
              <a:spcAft>
                <a:spcPts val="0"/>
              </a:spcAft>
              <a:buNone/>
            </a:pPr>
            <a:r>
              <a:rPr lang="en"/>
              <a:t>1770 - 1988</a:t>
            </a:r>
            <a:endParaRPr/>
          </a:p>
        </p:txBody>
      </p:sp>
      <p:sp>
        <p:nvSpPr>
          <p:cNvPr id="82" name="Google Shape;82;p14"/>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000"/>
              <a:t>Intro to Computer Science</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 name="Shape 86"/>
        <p:cNvGrpSpPr/>
        <p:nvPr/>
      </p:nvGrpSpPr>
      <p:grpSpPr>
        <a:xfrm>
          <a:off x="0" y="0"/>
          <a:ext cx="0" cy="0"/>
          <a:chOff x="0" y="0"/>
          <a:chExt cx="0" cy="0"/>
        </a:xfrm>
      </p:grpSpPr>
      <p:sp>
        <p:nvSpPr>
          <p:cNvPr id="87" name="Google Shape;87;p15"/>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Schedule</a:t>
            </a:r>
            <a:endParaRPr/>
          </a:p>
        </p:txBody>
      </p:sp>
      <p:sp>
        <p:nvSpPr>
          <p:cNvPr id="88" name="Google Shape;88;p15"/>
          <p:cNvSpPr txBox="1"/>
          <p:nvPr>
            <p:ph idx="1" type="body"/>
          </p:nvPr>
        </p:nvSpPr>
        <p:spPr>
          <a:xfrm>
            <a:off x="2410100" y="1143775"/>
            <a:ext cx="6321600" cy="34545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t>Week 13</a:t>
            </a:r>
            <a:endParaRPr/>
          </a:p>
          <a:p>
            <a:pPr indent="0" lvl="0" marL="0" rtl="0" algn="l">
              <a:spcBef>
                <a:spcPts val="1200"/>
              </a:spcBef>
              <a:spcAft>
                <a:spcPts val="0"/>
              </a:spcAft>
              <a:buNone/>
            </a:pPr>
            <a:r>
              <a:rPr lang="en"/>
              <a:t>Thursdays - Early AI (1770 - 1988)</a:t>
            </a:r>
            <a:endParaRPr/>
          </a:p>
          <a:p>
            <a:pPr indent="0" lvl="0" marL="0" rtl="0" algn="l">
              <a:spcBef>
                <a:spcPts val="1200"/>
              </a:spcBef>
              <a:spcAft>
                <a:spcPts val="0"/>
              </a:spcAft>
              <a:buNone/>
            </a:pPr>
            <a:r>
              <a:rPr lang="en"/>
              <a:t>Friday - Early Neural Networks (1957 - 2011)</a:t>
            </a:r>
            <a:endParaRPr/>
          </a:p>
          <a:p>
            <a:pPr indent="0" lvl="0" marL="0" rtl="0" algn="l">
              <a:spcBef>
                <a:spcPts val="1200"/>
              </a:spcBef>
              <a:spcAft>
                <a:spcPts val="0"/>
              </a:spcAft>
              <a:buNone/>
            </a:pPr>
            <a:r>
              <a:rPr b="1" lang="en"/>
              <a:t>Week 14</a:t>
            </a:r>
            <a:endParaRPr b="1"/>
          </a:p>
          <a:p>
            <a:pPr indent="0" lvl="0" marL="0" rtl="0" algn="l">
              <a:spcBef>
                <a:spcPts val="1200"/>
              </a:spcBef>
              <a:spcAft>
                <a:spcPts val="0"/>
              </a:spcAft>
              <a:buNone/>
            </a:pPr>
            <a:r>
              <a:rPr lang="en"/>
              <a:t>Monday - Neural Networks Structures</a:t>
            </a:r>
            <a:endParaRPr/>
          </a:p>
          <a:p>
            <a:pPr indent="0" lvl="0" marL="0" rtl="0" algn="l">
              <a:spcBef>
                <a:spcPts val="1200"/>
              </a:spcBef>
              <a:spcAft>
                <a:spcPts val="0"/>
              </a:spcAft>
              <a:buNone/>
            </a:pPr>
            <a:r>
              <a:rPr lang="en"/>
              <a:t>Tuesday - Language Modeling</a:t>
            </a:r>
            <a:endParaRPr/>
          </a:p>
          <a:p>
            <a:pPr indent="0" lvl="0" marL="0" rtl="0" algn="l">
              <a:spcBef>
                <a:spcPts val="1200"/>
              </a:spcBef>
              <a:spcAft>
                <a:spcPts val="0"/>
              </a:spcAft>
              <a:buNone/>
            </a:pPr>
            <a:r>
              <a:rPr lang="en"/>
              <a:t>Wednesday - LLMs</a:t>
            </a:r>
            <a:endParaRPr/>
          </a:p>
          <a:p>
            <a:pPr indent="0" lvl="0" marL="0" rtl="0" algn="l">
              <a:spcBef>
                <a:spcPts val="1200"/>
              </a:spcBef>
              <a:spcAft>
                <a:spcPts val="0"/>
              </a:spcAft>
              <a:buNone/>
            </a:pPr>
            <a:r>
              <a:rPr lang="en"/>
              <a:t>Thursday - Neural Network Coding</a:t>
            </a:r>
            <a:endParaRPr/>
          </a:p>
          <a:p>
            <a:pPr indent="0" lvl="0" marL="0" rtl="0" algn="l">
              <a:spcBef>
                <a:spcPts val="1200"/>
              </a:spcBef>
              <a:spcAft>
                <a:spcPts val="1200"/>
              </a:spcAft>
              <a:buNone/>
            </a:pPr>
            <a:r>
              <a:rPr lang="en"/>
              <a:t>Friday - Modify Classifier Project</a:t>
            </a:r>
            <a:endParaRPr/>
          </a:p>
        </p:txBody>
      </p:sp>
      <p:pic>
        <p:nvPicPr>
          <p:cNvPr id="89" name="Google Shape;89;p15" title="FREE-Calendar-Clipart-with-outline-WM.png"/>
          <p:cNvPicPr preferRelativeResize="0"/>
          <p:nvPr/>
        </p:nvPicPr>
        <p:blipFill>
          <a:blip r:embed="rId3">
            <a:alphaModFix/>
          </a:blip>
          <a:stretch>
            <a:fillRect/>
          </a:stretch>
        </p:blipFill>
        <p:spPr>
          <a:xfrm>
            <a:off x="105425" y="1519088"/>
            <a:ext cx="2105313" cy="21053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Mechanical Turk (1770 - 1854)</a:t>
            </a:r>
            <a:endParaRPr/>
          </a:p>
        </p:txBody>
      </p:sp>
      <p:sp>
        <p:nvSpPr>
          <p:cNvPr id="95" name="Google Shape;95;p16"/>
          <p:cNvSpPr txBox="1"/>
          <p:nvPr>
            <p:ph idx="1" type="body"/>
          </p:nvPr>
        </p:nvSpPr>
        <p:spPr>
          <a:xfrm>
            <a:off x="3736675" y="1272950"/>
            <a:ext cx="4995300" cy="357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The mechanical turk was a chess playing “machine” created in 1770</a:t>
            </a:r>
            <a:endParaRPr sz="2400"/>
          </a:p>
          <a:p>
            <a:pPr indent="0" lvl="0" marL="0" rtl="0" algn="l">
              <a:spcBef>
                <a:spcPts val="1200"/>
              </a:spcBef>
              <a:spcAft>
                <a:spcPts val="0"/>
              </a:spcAft>
              <a:buNone/>
            </a:pPr>
            <a:r>
              <a:rPr lang="en" sz="2400"/>
              <a:t>The machine was a sensation touring the Europe &amp; the US</a:t>
            </a:r>
            <a:endParaRPr sz="2400"/>
          </a:p>
          <a:p>
            <a:pPr indent="0" lvl="0" marL="0" rtl="0" algn="l">
              <a:spcBef>
                <a:spcPts val="1200"/>
              </a:spcBef>
              <a:spcAft>
                <a:spcPts val="1200"/>
              </a:spcAft>
              <a:buNone/>
            </a:pPr>
            <a:r>
              <a:rPr lang="en" sz="2400"/>
              <a:t>The machine was a scam with a </a:t>
            </a:r>
            <a:r>
              <a:rPr lang="en" sz="2400"/>
              <a:t>chess</a:t>
            </a:r>
            <a:r>
              <a:rPr lang="en" sz="2400"/>
              <a:t> grandmaster sitting hiding under the machine</a:t>
            </a:r>
            <a:endParaRPr sz="2400"/>
          </a:p>
        </p:txBody>
      </p:sp>
      <p:pic>
        <p:nvPicPr>
          <p:cNvPr id="96" name="Google Shape;96;p16" title="500px-Racknitz_-_The_Turk_3.jpg"/>
          <p:cNvPicPr preferRelativeResize="0"/>
          <p:nvPr/>
        </p:nvPicPr>
        <p:blipFill>
          <a:blip r:embed="rId3">
            <a:alphaModFix/>
          </a:blip>
          <a:stretch>
            <a:fillRect/>
          </a:stretch>
        </p:blipFill>
        <p:spPr>
          <a:xfrm>
            <a:off x="81925" y="1460852"/>
            <a:ext cx="3514600" cy="3198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Industrial Revolution</a:t>
            </a:r>
            <a:endParaRPr/>
          </a:p>
        </p:txBody>
      </p:sp>
      <p:sp>
        <p:nvSpPr>
          <p:cNvPr id="102" name="Google Shape;102;p17"/>
          <p:cNvSpPr txBox="1"/>
          <p:nvPr>
            <p:ph idx="1" type="body"/>
          </p:nvPr>
        </p:nvSpPr>
        <p:spPr>
          <a:xfrm>
            <a:off x="5016675" y="1402125"/>
            <a:ext cx="3714900" cy="319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Beginning in the late 1700s and accelerating through the 1800s the industrial revolution completely reorganized society.</a:t>
            </a:r>
            <a:endParaRPr/>
          </a:p>
          <a:p>
            <a:pPr indent="0" lvl="0" marL="0" rtl="0" algn="l">
              <a:spcBef>
                <a:spcPts val="1200"/>
              </a:spcBef>
              <a:spcAft>
                <a:spcPts val="1200"/>
              </a:spcAft>
              <a:buNone/>
            </a:pPr>
            <a:r>
              <a:rPr lang="en"/>
              <a:t>Machines began to automate tasks that were originally performed by humans. Those who owned the </a:t>
            </a:r>
            <a:r>
              <a:rPr lang="en"/>
              <a:t>machinery</a:t>
            </a:r>
            <a:r>
              <a:rPr lang="en"/>
              <a:t> to perform automation became massively wealthy</a:t>
            </a:r>
            <a:endParaRPr/>
          </a:p>
        </p:txBody>
      </p:sp>
      <p:pic>
        <p:nvPicPr>
          <p:cNvPr id="103" name="Google Shape;103;p17" title="77b2c1bf4d5ebaac3506495324c3504f9980519e.jpg"/>
          <p:cNvPicPr preferRelativeResize="0"/>
          <p:nvPr/>
        </p:nvPicPr>
        <p:blipFill>
          <a:blip r:embed="rId3">
            <a:alphaModFix/>
          </a:blip>
          <a:stretch>
            <a:fillRect/>
          </a:stretch>
        </p:blipFill>
        <p:spPr>
          <a:xfrm>
            <a:off x="467253" y="1658438"/>
            <a:ext cx="4038548" cy="2877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2400250" y="575950"/>
            <a:ext cx="64329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Charles </a:t>
            </a:r>
            <a:r>
              <a:rPr lang="en"/>
              <a:t>Babbage's</a:t>
            </a:r>
            <a:r>
              <a:rPr lang="en"/>
              <a:t> Difference Engines </a:t>
            </a:r>
            <a:endParaRPr/>
          </a:p>
        </p:txBody>
      </p:sp>
      <p:sp>
        <p:nvSpPr>
          <p:cNvPr id="109" name="Google Shape;109;p18"/>
          <p:cNvSpPr txBox="1"/>
          <p:nvPr>
            <p:ph idx="1" type="body"/>
          </p:nvPr>
        </p:nvSpPr>
        <p:spPr>
          <a:xfrm>
            <a:off x="2410100" y="1425625"/>
            <a:ext cx="6321600" cy="317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Lived from 1791 - 1871.</a:t>
            </a:r>
            <a:endParaRPr/>
          </a:p>
          <a:p>
            <a:pPr indent="0" lvl="0" marL="0" rtl="0" algn="l">
              <a:spcBef>
                <a:spcPts val="1200"/>
              </a:spcBef>
              <a:spcAft>
                <a:spcPts val="0"/>
              </a:spcAft>
              <a:buNone/>
            </a:pPr>
            <a:r>
              <a:rPr lang="en"/>
              <a:t>Designed a machine called the difference engine in 1822 to calculate polynomial functions.</a:t>
            </a:r>
            <a:endParaRPr/>
          </a:p>
          <a:p>
            <a:pPr indent="0" lvl="0" marL="0" rtl="0" algn="l">
              <a:spcBef>
                <a:spcPts val="1200"/>
              </a:spcBef>
              <a:spcAft>
                <a:spcPts val="0"/>
              </a:spcAft>
              <a:buNone/>
            </a:pPr>
            <a:r>
              <a:rPr lang="en"/>
              <a:t>The idea was to automate the work of astronomers in calculating </a:t>
            </a:r>
            <a:r>
              <a:rPr lang="en"/>
              <a:t>mathematical</a:t>
            </a:r>
            <a:r>
              <a:rPr lang="en"/>
              <a:t> tables.</a:t>
            </a:r>
            <a:endParaRPr/>
          </a:p>
          <a:p>
            <a:pPr indent="0" lvl="0" marL="0" rtl="0" algn="l">
              <a:spcBef>
                <a:spcPts val="1200"/>
              </a:spcBef>
              <a:spcAft>
                <a:spcPts val="1200"/>
              </a:spcAft>
              <a:buNone/>
            </a:pPr>
            <a:r>
              <a:rPr lang="en"/>
              <a:t>The designs were never completed in his time.</a:t>
            </a:r>
            <a:endParaRPr/>
          </a:p>
        </p:txBody>
      </p:sp>
      <p:pic>
        <p:nvPicPr>
          <p:cNvPr id="110" name="Google Shape;110;p18" title="Charles_Babbage_-_1860.jpg"/>
          <p:cNvPicPr preferRelativeResize="0"/>
          <p:nvPr/>
        </p:nvPicPr>
        <p:blipFill>
          <a:blip r:embed="rId3">
            <a:alphaModFix/>
          </a:blip>
          <a:stretch>
            <a:fillRect/>
          </a:stretch>
        </p:blipFill>
        <p:spPr>
          <a:xfrm>
            <a:off x="140675" y="1163075"/>
            <a:ext cx="2151590" cy="28173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Charles </a:t>
            </a:r>
            <a:r>
              <a:rPr lang="en"/>
              <a:t>Babbage's</a:t>
            </a:r>
            <a:r>
              <a:rPr lang="en"/>
              <a:t> Analytical Engine</a:t>
            </a:r>
            <a:endParaRPr/>
          </a:p>
        </p:txBody>
      </p:sp>
      <p:sp>
        <p:nvSpPr>
          <p:cNvPr id="116" name="Google Shape;116;p19"/>
          <p:cNvSpPr txBox="1"/>
          <p:nvPr>
            <p:ph idx="1" type="body"/>
          </p:nvPr>
        </p:nvSpPr>
        <p:spPr>
          <a:xfrm>
            <a:off x="3619250" y="1211350"/>
            <a:ext cx="5112600" cy="3387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After the difference engine fell through, </a:t>
            </a:r>
            <a:r>
              <a:rPr lang="en"/>
              <a:t>Babbage</a:t>
            </a:r>
            <a:r>
              <a:rPr lang="en"/>
              <a:t>, designed a new machine in 1837.</a:t>
            </a:r>
            <a:endParaRPr/>
          </a:p>
          <a:p>
            <a:pPr indent="0" lvl="0" marL="0" rtl="0" algn="l">
              <a:spcBef>
                <a:spcPts val="1200"/>
              </a:spcBef>
              <a:spcAft>
                <a:spcPts val="0"/>
              </a:spcAft>
              <a:buNone/>
            </a:pPr>
            <a:r>
              <a:rPr lang="en"/>
              <a:t>The goal of the Analytical engine was to further automate tasks requiring human </a:t>
            </a:r>
            <a:r>
              <a:rPr lang="en"/>
              <a:t>intelligence</a:t>
            </a:r>
            <a:r>
              <a:rPr lang="en"/>
              <a:t> like computation.</a:t>
            </a:r>
            <a:endParaRPr/>
          </a:p>
          <a:p>
            <a:pPr indent="0" lvl="0" marL="0" rtl="0" algn="l">
              <a:spcBef>
                <a:spcPts val="1200"/>
              </a:spcBef>
              <a:spcAft>
                <a:spcPts val="0"/>
              </a:spcAft>
              <a:buNone/>
            </a:pPr>
            <a:r>
              <a:rPr lang="en"/>
              <a:t>The design was supposed to be the first programmable computing machine.</a:t>
            </a:r>
            <a:endParaRPr/>
          </a:p>
          <a:p>
            <a:pPr indent="0" lvl="0" marL="0" rtl="0" algn="l">
              <a:spcBef>
                <a:spcPts val="1200"/>
              </a:spcBef>
              <a:spcAft>
                <a:spcPts val="1200"/>
              </a:spcAft>
              <a:buNone/>
            </a:pPr>
            <a:r>
              <a:rPr lang="en"/>
              <a:t>Mathematician</a:t>
            </a:r>
            <a:r>
              <a:rPr lang="en"/>
              <a:t> Ada Lovelace wrote programs for this machine, making her the first programmer.</a:t>
            </a:r>
            <a:endParaRPr/>
          </a:p>
        </p:txBody>
      </p:sp>
      <p:pic>
        <p:nvPicPr>
          <p:cNvPr id="117" name="Google Shape;117;p19" title="Babbages_Analytical_Engine,_1834-1871._(9660574685).jpg"/>
          <p:cNvPicPr preferRelativeResize="0"/>
          <p:nvPr/>
        </p:nvPicPr>
        <p:blipFill>
          <a:blip r:embed="rId3">
            <a:alphaModFix/>
          </a:blip>
          <a:stretch>
            <a:fillRect/>
          </a:stretch>
        </p:blipFill>
        <p:spPr>
          <a:xfrm>
            <a:off x="286800" y="1595770"/>
            <a:ext cx="2966900" cy="2320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2400250" y="575950"/>
            <a:ext cx="64329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Babbage on </a:t>
            </a:r>
            <a:r>
              <a:rPr lang="en"/>
              <a:t>Intelligence</a:t>
            </a:r>
            <a:r>
              <a:rPr lang="en"/>
              <a:t> &amp; Automation</a:t>
            </a:r>
            <a:endParaRPr/>
          </a:p>
        </p:txBody>
      </p:sp>
      <p:sp>
        <p:nvSpPr>
          <p:cNvPr id="123" name="Google Shape;123;p20"/>
          <p:cNvSpPr txBox="1"/>
          <p:nvPr>
            <p:ph idx="1" type="body"/>
          </p:nvPr>
        </p:nvSpPr>
        <p:spPr>
          <a:xfrm>
            <a:off x="4499979" y="1595775"/>
            <a:ext cx="42318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Babbage's</a:t>
            </a:r>
            <a:r>
              <a:rPr lang="en"/>
              <a:t> goals were to use his machines to apply the factory system to </a:t>
            </a:r>
            <a:r>
              <a:rPr lang="en"/>
              <a:t>intelligent</a:t>
            </a:r>
            <a:r>
              <a:rPr lang="en"/>
              <a:t> tasks.</a:t>
            </a:r>
            <a:endParaRPr/>
          </a:p>
          <a:p>
            <a:pPr indent="0" lvl="0" marL="0" rtl="0" algn="l">
              <a:spcBef>
                <a:spcPts val="1200"/>
              </a:spcBef>
              <a:spcAft>
                <a:spcPts val="0"/>
              </a:spcAft>
              <a:buNone/>
            </a:pPr>
            <a:r>
              <a:rPr lang="en"/>
              <a:t>Babbage was a proponent of production by breaking down tasks into smaller more specific tasks, the </a:t>
            </a:r>
            <a:r>
              <a:rPr b="1" lang="en"/>
              <a:t>division of labor</a:t>
            </a:r>
            <a:r>
              <a:rPr lang="en"/>
              <a:t>.</a:t>
            </a:r>
            <a:endParaRPr/>
          </a:p>
          <a:p>
            <a:pPr indent="0" lvl="0" marL="0" rtl="0" algn="l">
              <a:spcBef>
                <a:spcPts val="1200"/>
              </a:spcBef>
              <a:spcAft>
                <a:spcPts val="1200"/>
              </a:spcAft>
              <a:buNone/>
            </a:pPr>
            <a:r>
              <a:rPr lang="en"/>
              <a:t>Babbage used the term </a:t>
            </a:r>
            <a:r>
              <a:rPr b="1" lang="en"/>
              <a:t>machine intelligence.</a:t>
            </a:r>
            <a:endParaRPr b="1"/>
          </a:p>
        </p:txBody>
      </p:sp>
      <p:pic>
        <p:nvPicPr>
          <p:cNvPr id="124" name="Google Shape;124;p20" title="images.jpg"/>
          <p:cNvPicPr preferRelativeResize="0"/>
          <p:nvPr/>
        </p:nvPicPr>
        <p:blipFill>
          <a:blip r:embed="rId3">
            <a:alphaModFix/>
          </a:blip>
          <a:stretch>
            <a:fillRect/>
          </a:stretch>
        </p:blipFill>
        <p:spPr>
          <a:xfrm>
            <a:off x="137082" y="1707324"/>
            <a:ext cx="4176575" cy="27793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Babbage's</a:t>
            </a:r>
            <a:r>
              <a:rPr lang="en"/>
              <a:t> Engine Example</a:t>
            </a:r>
            <a:endParaRPr/>
          </a:p>
        </p:txBody>
      </p:sp>
      <p:pic>
        <p:nvPicPr>
          <p:cNvPr descr="The Difference Engine was an accurate mechanical calculator designed by Charles Babbage in the 1840s, but was never built in its inventor's lifetime. Here, its modern builder explains how it works." id="130" name="Google Shape;130;p21" title="Babbage's Difference Engine No. 2">
            <a:hlinkClick r:id="rId3"/>
          </p:cNvPr>
          <p:cNvPicPr preferRelativeResize="0"/>
          <p:nvPr/>
        </p:nvPicPr>
        <p:blipFill>
          <a:blip r:embed="rId4">
            <a:alphaModFix/>
          </a:blip>
          <a:stretch>
            <a:fillRect/>
          </a:stretch>
        </p:blipFill>
        <p:spPr>
          <a:xfrm>
            <a:off x="2400250" y="1211350"/>
            <a:ext cx="6142875" cy="3455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Alan Turing &amp; The Bombe (1941)</a:t>
            </a:r>
            <a:endParaRPr/>
          </a:p>
        </p:txBody>
      </p:sp>
      <p:sp>
        <p:nvSpPr>
          <p:cNvPr id="136" name="Google Shape;136;p22"/>
          <p:cNvSpPr txBox="1"/>
          <p:nvPr>
            <p:ph idx="1" type="body"/>
          </p:nvPr>
        </p:nvSpPr>
        <p:spPr>
          <a:xfrm>
            <a:off x="2410100" y="1355150"/>
            <a:ext cx="6321600" cy="3243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The next breakthrough in computing </a:t>
            </a:r>
            <a:r>
              <a:rPr lang="en"/>
              <a:t>occurred</a:t>
            </a:r>
            <a:r>
              <a:rPr lang="en"/>
              <a:t> during World War II.</a:t>
            </a:r>
            <a:endParaRPr/>
          </a:p>
          <a:p>
            <a:pPr indent="0" lvl="0" marL="0" rtl="0" algn="l">
              <a:spcBef>
                <a:spcPts val="1200"/>
              </a:spcBef>
              <a:spcAft>
                <a:spcPts val="0"/>
              </a:spcAft>
              <a:buNone/>
            </a:pPr>
            <a:r>
              <a:rPr lang="en"/>
              <a:t>The Nazis were using a machine called </a:t>
            </a:r>
            <a:r>
              <a:rPr i="1" lang="en"/>
              <a:t>The Enigma </a:t>
            </a:r>
            <a:r>
              <a:rPr lang="en"/>
              <a:t>to encode their messages to each other. </a:t>
            </a:r>
            <a:endParaRPr/>
          </a:p>
          <a:p>
            <a:pPr indent="0" lvl="0" marL="0" rtl="0" algn="l">
              <a:spcBef>
                <a:spcPts val="1200"/>
              </a:spcBef>
              <a:spcAft>
                <a:spcPts val="0"/>
              </a:spcAft>
              <a:buNone/>
            </a:pPr>
            <a:r>
              <a:rPr lang="en"/>
              <a:t>Alan Turing was a </a:t>
            </a:r>
            <a:r>
              <a:rPr lang="en"/>
              <a:t>mathematician</a:t>
            </a:r>
            <a:r>
              <a:rPr lang="en"/>
              <a:t> who worked to develop a codebreaking machine called </a:t>
            </a:r>
            <a:r>
              <a:rPr i="1" lang="en"/>
              <a:t>The Bombe</a:t>
            </a:r>
            <a:r>
              <a:rPr lang="en"/>
              <a:t> to decode the enigma messages. </a:t>
            </a:r>
            <a:endParaRPr/>
          </a:p>
          <a:p>
            <a:pPr indent="0" lvl="0" marL="0" rtl="0" algn="l">
              <a:spcBef>
                <a:spcPts val="1200"/>
              </a:spcBef>
              <a:spcAft>
                <a:spcPts val="1200"/>
              </a:spcAft>
              <a:buNone/>
            </a:pPr>
            <a:r>
              <a:rPr lang="en"/>
              <a:t>This gave the allies a massive advantage, saving countless livees.</a:t>
            </a:r>
            <a:endParaRPr/>
          </a:p>
        </p:txBody>
      </p:sp>
      <p:pic>
        <p:nvPicPr>
          <p:cNvPr id="137" name="Google Shape;137;p22" title="EnigmaMachineLabeled.jpg"/>
          <p:cNvPicPr preferRelativeResize="0"/>
          <p:nvPr/>
        </p:nvPicPr>
        <p:blipFill>
          <a:blip r:embed="rId3">
            <a:alphaModFix/>
          </a:blip>
          <a:stretch>
            <a:fillRect/>
          </a:stretch>
        </p:blipFill>
        <p:spPr>
          <a:xfrm>
            <a:off x="58450" y="1010005"/>
            <a:ext cx="2341800" cy="31234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Imitation</a:t>
            </a:r>
            <a:r>
              <a:rPr lang="en"/>
              <a:t> Game Clip</a:t>
            </a:r>
            <a:endParaRPr/>
          </a:p>
        </p:txBody>
      </p:sp>
      <p:pic>
        <p:nvPicPr>
          <p:cNvPr descr="Thanks to overhearing a clerk's (Tuppence Middleton) conversation in a bar, Alan (Benedict Cumberbatch) has a stroke of genius and realizes he can program Christopher to decode words he already knows exist in certain messages.&#10;&#10;Film: The Imitation Game&#10;Released: 2014&#10;Director: Morten Tyldum&#10;Distributor: The Weinstein Company" id="143" name="Google Shape;143;p23" title="Turing breaks Enigma – The Imitation Game (2014)">
            <a:hlinkClick r:id="rId3"/>
          </p:cNvPr>
          <p:cNvPicPr preferRelativeResize="0"/>
          <p:nvPr/>
        </p:nvPicPr>
        <p:blipFill>
          <a:blip r:embed="rId4">
            <a:alphaModFix/>
          </a:blip>
          <a:stretch>
            <a:fillRect/>
          </a:stretch>
        </p:blipFill>
        <p:spPr>
          <a:xfrm>
            <a:off x="2460850" y="1211350"/>
            <a:ext cx="6114000" cy="343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Turing Test</a:t>
            </a:r>
            <a:endParaRPr/>
          </a:p>
        </p:txBody>
      </p:sp>
      <p:sp>
        <p:nvSpPr>
          <p:cNvPr id="149" name="Google Shape;149;p24"/>
          <p:cNvSpPr txBox="1"/>
          <p:nvPr>
            <p:ph idx="1" type="body"/>
          </p:nvPr>
        </p:nvSpPr>
        <p:spPr>
          <a:xfrm>
            <a:off x="2410100" y="1211350"/>
            <a:ext cx="6321600" cy="338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After WW2 Turing produced </a:t>
            </a:r>
            <a:r>
              <a:rPr lang="en"/>
              <a:t>significant</a:t>
            </a:r>
            <a:r>
              <a:rPr lang="en"/>
              <a:t> research on AI</a:t>
            </a:r>
            <a:endParaRPr/>
          </a:p>
          <a:p>
            <a:pPr indent="0" lvl="0" marL="0" rtl="0" algn="l">
              <a:spcBef>
                <a:spcPts val="1200"/>
              </a:spcBef>
              <a:spcAft>
                <a:spcPts val="0"/>
              </a:spcAft>
              <a:buNone/>
            </a:pPr>
            <a:r>
              <a:rPr lang="en"/>
              <a:t>Turing explored machines capable of completing tasks like Chess and translation</a:t>
            </a:r>
            <a:endParaRPr/>
          </a:p>
          <a:p>
            <a:pPr indent="0" lvl="0" marL="0" rtl="0" algn="l">
              <a:spcBef>
                <a:spcPts val="1200"/>
              </a:spcBef>
              <a:spcAft>
                <a:spcPts val="0"/>
              </a:spcAft>
              <a:buNone/>
            </a:pPr>
            <a:r>
              <a:rPr lang="en"/>
              <a:t>Turing proposed the idea that </a:t>
            </a:r>
            <a:r>
              <a:rPr lang="en"/>
              <a:t>machines code learn, rather than be programmed for individual taks.</a:t>
            </a:r>
            <a:endParaRPr/>
          </a:p>
          <a:p>
            <a:pPr indent="0" lvl="0" marL="0" rtl="0" algn="l">
              <a:spcBef>
                <a:spcPts val="1200"/>
              </a:spcBef>
              <a:spcAft>
                <a:spcPts val="0"/>
              </a:spcAft>
              <a:buNone/>
            </a:pPr>
            <a:r>
              <a:rPr lang="en"/>
              <a:t>Turing also proposed the </a:t>
            </a:r>
            <a:r>
              <a:rPr b="1" lang="en"/>
              <a:t>Turing Test</a:t>
            </a:r>
            <a:r>
              <a:rPr lang="en"/>
              <a:t> for AI systems</a:t>
            </a:r>
            <a:endParaRPr/>
          </a:p>
          <a:p>
            <a:pPr indent="-342900" lvl="0" marL="457200" rtl="0" algn="l">
              <a:spcBef>
                <a:spcPts val="1200"/>
              </a:spcBef>
              <a:spcAft>
                <a:spcPts val="0"/>
              </a:spcAft>
              <a:buSzPts val="1800"/>
              <a:buChar char="-"/>
            </a:pPr>
            <a:r>
              <a:rPr lang="en"/>
              <a:t>Can an AI imitate a human so that a trained judge cannot tell whether the AI is human or not</a:t>
            </a:r>
            <a:endParaRPr/>
          </a:p>
        </p:txBody>
      </p:sp>
      <p:pic>
        <p:nvPicPr>
          <p:cNvPr id="150" name="Google Shape;150;p24" title="Alan_turing_header.jpg"/>
          <p:cNvPicPr preferRelativeResize="0"/>
          <p:nvPr/>
        </p:nvPicPr>
        <p:blipFill>
          <a:blip r:embed="rId3">
            <a:alphaModFix/>
          </a:blip>
          <a:stretch>
            <a:fillRect/>
          </a:stretch>
        </p:blipFill>
        <p:spPr>
          <a:xfrm>
            <a:off x="166050" y="1211350"/>
            <a:ext cx="2244043" cy="2989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Dartmouth Summer Research Project - 1956</a:t>
            </a:r>
            <a:endParaRPr/>
          </a:p>
        </p:txBody>
      </p:sp>
      <p:sp>
        <p:nvSpPr>
          <p:cNvPr id="156" name="Google Shape;156;p25"/>
          <p:cNvSpPr txBox="1"/>
          <p:nvPr>
            <p:ph idx="1" type="body"/>
          </p:nvPr>
        </p:nvSpPr>
        <p:spPr>
          <a:xfrm>
            <a:off x="4126325" y="1637000"/>
            <a:ext cx="4789200" cy="2982600"/>
          </a:xfrm>
          <a:prstGeom prst="rect">
            <a:avLst/>
          </a:prstGeom>
        </p:spPr>
        <p:txBody>
          <a:bodyPr anchorCtr="0" anchor="t" bIns="61450" lIns="61450" spcFirstLastPara="1" rIns="61450" wrap="square" tIns="61450">
            <a:noAutofit/>
          </a:bodyPr>
          <a:lstStyle/>
          <a:p>
            <a:pPr indent="0" lvl="0" marL="0" rtl="0" algn="l">
              <a:spcBef>
                <a:spcPts val="0"/>
              </a:spcBef>
              <a:spcAft>
                <a:spcPts val="0"/>
              </a:spcAft>
              <a:buNone/>
            </a:pPr>
            <a:r>
              <a:rPr lang="en" sz="1710"/>
              <a:t>A group of prominent academics studying AI got together in the summer of 1956.</a:t>
            </a:r>
            <a:endParaRPr sz="1710"/>
          </a:p>
          <a:p>
            <a:pPr indent="0" lvl="0" marL="0" rtl="0" algn="l">
              <a:spcBef>
                <a:spcPts val="807"/>
              </a:spcBef>
              <a:spcAft>
                <a:spcPts val="0"/>
              </a:spcAft>
              <a:buNone/>
            </a:pPr>
            <a:r>
              <a:rPr lang="en" sz="1710"/>
              <a:t>The goal was to develop “Human Level </a:t>
            </a:r>
            <a:r>
              <a:rPr lang="en" sz="1710"/>
              <a:t>Intelligence</a:t>
            </a:r>
            <a:r>
              <a:rPr lang="en" sz="1710"/>
              <a:t>” over the summer.</a:t>
            </a:r>
            <a:endParaRPr sz="1710"/>
          </a:p>
          <a:p>
            <a:pPr indent="0" lvl="0" marL="0" rtl="0" algn="l">
              <a:spcBef>
                <a:spcPts val="807"/>
              </a:spcBef>
              <a:spcAft>
                <a:spcPts val="0"/>
              </a:spcAft>
              <a:buNone/>
            </a:pPr>
            <a:r>
              <a:rPr lang="en" sz="1710"/>
              <a:t>John McCarthy coined the term AI here</a:t>
            </a:r>
            <a:endParaRPr sz="1710"/>
          </a:p>
          <a:p>
            <a:pPr indent="0" lvl="0" marL="0" rtl="0" algn="l">
              <a:spcBef>
                <a:spcPts val="807"/>
              </a:spcBef>
              <a:spcAft>
                <a:spcPts val="807"/>
              </a:spcAft>
              <a:buNone/>
            </a:pPr>
            <a:r>
              <a:rPr lang="en" sz="1710"/>
              <a:t>Definition of AI</a:t>
            </a:r>
            <a:br>
              <a:rPr lang="en" sz="1710"/>
            </a:br>
            <a:r>
              <a:rPr lang="en" sz="1710"/>
              <a:t>“</a:t>
            </a:r>
            <a:r>
              <a:rPr lang="en" sz="1700">
                <a:solidFill>
                  <a:srgbClr val="0A0A0A"/>
                </a:solidFill>
                <a:highlight>
                  <a:srgbClr val="FFFFFF"/>
                </a:highlight>
                <a:latin typeface="Roboto"/>
                <a:ea typeface="Roboto"/>
                <a:cs typeface="Roboto"/>
                <a:sym typeface="Roboto"/>
              </a:rPr>
              <a:t>computer programs that can solve problems and achieve goals in the world as well as humans”</a:t>
            </a:r>
            <a:endParaRPr sz="1700">
              <a:solidFill>
                <a:srgbClr val="0A0A0A"/>
              </a:solidFill>
              <a:highlight>
                <a:srgbClr val="FFFFFF"/>
              </a:highlight>
              <a:latin typeface="Roboto"/>
              <a:ea typeface="Roboto"/>
              <a:cs typeface="Roboto"/>
              <a:sym typeface="Roboto"/>
            </a:endParaRPr>
          </a:p>
        </p:txBody>
      </p:sp>
      <p:pic>
        <p:nvPicPr>
          <p:cNvPr id="157" name="Google Shape;157;p25" title="Dartmouth-1956-Conference_CROPPED.jpg"/>
          <p:cNvPicPr preferRelativeResize="0"/>
          <p:nvPr/>
        </p:nvPicPr>
        <p:blipFill>
          <a:blip r:embed="rId3">
            <a:alphaModFix/>
          </a:blip>
          <a:stretch>
            <a:fillRect/>
          </a:stretch>
        </p:blipFill>
        <p:spPr>
          <a:xfrm>
            <a:off x="168375" y="1683975"/>
            <a:ext cx="3783825" cy="22039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ELIZA (1966)</a:t>
            </a:r>
            <a:endParaRPr/>
          </a:p>
        </p:txBody>
      </p:sp>
      <p:sp>
        <p:nvSpPr>
          <p:cNvPr id="163" name="Google Shape;163;p26"/>
          <p:cNvSpPr txBox="1"/>
          <p:nvPr>
            <p:ph idx="1" type="body"/>
          </p:nvPr>
        </p:nvSpPr>
        <p:spPr>
          <a:xfrm>
            <a:off x="2808951" y="1595775"/>
            <a:ext cx="5922600" cy="30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very early example of a chatbot developed in 1966</a:t>
            </a:r>
            <a:endParaRPr/>
          </a:p>
          <a:p>
            <a:pPr indent="-342900" lvl="0" marL="457200" rtl="0" algn="l">
              <a:spcBef>
                <a:spcPts val="0"/>
              </a:spcBef>
              <a:spcAft>
                <a:spcPts val="0"/>
              </a:spcAft>
              <a:buSzPts val="1800"/>
              <a:buChar char="-"/>
            </a:pPr>
            <a:r>
              <a:rPr lang="en"/>
              <a:t>Developed by </a:t>
            </a:r>
            <a:r>
              <a:rPr lang="en"/>
              <a:t>Joseph</a:t>
            </a:r>
            <a:r>
              <a:rPr lang="en"/>
              <a:t> </a:t>
            </a:r>
            <a:r>
              <a:rPr lang="en"/>
              <a:t>Weizenbaum</a:t>
            </a:r>
            <a:endParaRPr/>
          </a:p>
          <a:p>
            <a:pPr indent="-342900" lvl="0" marL="457200" rtl="0" algn="l">
              <a:spcBef>
                <a:spcPts val="0"/>
              </a:spcBef>
              <a:spcAft>
                <a:spcPts val="0"/>
              </a:spcAft>
              <a:buSzPts val="1800"/>
              <a:buChar char="-"/>
            </a:pPr>
            <a:r>
              <a:rPr lang="en"/>
              <a:t>Meant to imitate a psychotherapists</a:t>
            </a:r>
            <a:endParaRPr/>
          </a:p>
          <a:p>
            <a:pPr indent="-342900" lvl="0" marL="457200" rtl="0" algn="l">
              <a:spcBef>
                <a:spcPts val="0"/>
              </a:spcBef>
              <a:spcAft>
                <a:spcPts val="0"/>
              </a:spcAft>
              <a:buSzPts val="1800"/>
              <a:buChar char="-"/>
            </a:pPr>
            <a:r>
              <a:rPr lang="en"/>
              <a:t>Uses bases syntactic parsing to rephrase user input.</a:t>
            </a:r>
            <a:endParaRPr/>
          </a:p>
          <a:p>
            <a:pPr indent="-342900" lvl="0" marL="457200" rtl="0" algn="l">
              <a:spcBef>
                <a:spcPts val="0"/>
              </a:spcBef>
              <a:spcAft>
                <a:spcPts val="0"/>
              </a:spcAft>
              <a:buSzPts val="1800"/>
              <a:buChar char="-"/>
            </a:pPr>
            <a:r>
              <a:rPr lang="en"/>
              <a:t>Users quickly became very attached.</a:t>
            </a:r>
            <a:endParaRPr/>
          </a:p>
          <a:p>
            <a:pPr indent="-342900" lvl="0" marL="457200" rtl="0" algn="l">
              <a:spcBef>
                <a:spcPts val="0"/>
              </a:spcBef>
              <a:spcAft>
                <a:spcPts val="0"/>
              </a:spcAft>
              <a:buSzPts val="1800"/>
              <a:buChar char="-"/>
            </a:pPr>
            <a:r>
              <a:rPr lang="en"/>
              <a:t>Some users demanded Weizenbaum leave the room so they could “talk to ELIZA”</a:t>
            </a:r>
            <a:endParaRPr/>
          </a:p>
        </p:txBody>
      </p:sp>
      <p:pic>
        <p:nvPicPr>
          <p:cNvPr id="164" name="Google Shape;164;p26" title="200908311113135495.jpg"/>
          <p:cNvPicPr preferRelativeResize="0"/>
          <p:nvPr/>
        </p:nvPicPr>
        <p:blipFill>
          <a:blip r:embed="rId3">
            <a:alphaModFix/>
          </a:blip>
          <a:stretch>
            <a:fillRect/>
          </a:stretch>
        </p:blipFill>
        <p:spPr>
          <a:xfrm>
            <a:off x="250650" y="1120275"/>
            <a:ext cx="2558300" cy="3405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Cleverbot (1988 - 2008)</a:t>
            </a:r>
            <a:endParaRPr/>
          </a:p>
        </p:txBody>
      </p:sp>
      <p:sp>
        <p:nvSpPr>
          <p:cNvPr id="170" name="Google Shape;170;p27"/>
          <p:cNvSpPr txBox="1"/>
          <p:nvPr>
            <p:ph idx="1" type="body"/>
          </p:nvPr>
        </p:nvSpPr>
        <p:spPr>
          <a:xfrm>
            <a:off x="3126026" y="1595775"/>
            <a:ext cx="5605800" cy="30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Started Development in 1988, </a:t>
            </a:r>
            <a:r>
              <a:rPr lang="en"/>
              <a:t>continuously</a:t>
            </a:r>
            <a:r>
              <a:rPr lang="en"/>
              <a:t> improved for 20 years</a:t>
            </a:r>
            <a:endParaRPr/>
          </a:p>
          <a:p>
            <a:pPr indent="-342900" lvl="0" marL="457200" rtl="0" algn="l">
              <a:spcBef>
                <a:spcPts val="0"/>
              </a:spcBef>
              <a:spcAft>
                <a:spcPts val="0"/>
              </a:spcAft>
              <a:buSzPts val="1800"/>
              <a:buChar char="-"/>
            </a:pPr>
            <a:r>
              <a:rPr lang="en"/>
              <a:t>Uses a method of encoding a prompt numerically, then finds a similar prompt and response to answer with.</a:t>
            </a:r>
            <a:endParaRPr/>
          </a:p>
          <a:p>
            <a:pPr indent="-342900" lvl="0" marL="457200" rtl="0" algn="l">
              <a:spcBef>
                <a:spcPts val="0"/>
              </a:spcBef>
              <a:spcAft>
                <a:spcPts val="0"/>
              </a:spcAft>
              <a:buSzPts val="1800"/>
              <a:buChar char="-"/>
            </a:pPr>
            <a:r>
              <a:rPr lang="en"/>
              <a:t>Can produce weird results</a:t>
            </a:r>
            <a:endParaRPr/>
          </a:p>
        </p:txBody>
      </p:sp>
      <p:pic>
        <p:nvPicPr>
          <p:cNvPr id="171" name="Google Shape;171;p27" title="Cleverbot_website.png"/>
          <p:cNvPicPr preferRelativeResize="0"/>
          <p:nvPr/>
        </p:nvPicPr>
        <p:blipFill rotWithShape="1">
          <a:blip r:embed="rId3">
            <a:alphaModFix/>
          </a:blip>
          <a:srcRect b="0" l="17405" r="15368" t="0"/>
          <a:stretch/>
        </p:blipFill>
        <p:spPr>
          <a:xfrm>
            <a:off x="0" y="1792725"/>
            <a:ext cx="2644551" cy="22955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