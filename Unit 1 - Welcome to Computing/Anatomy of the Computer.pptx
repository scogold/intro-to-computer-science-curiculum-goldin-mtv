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Nunito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regular.fntdata"/><Relationship Id="rId30" Type="http://schemas.openxmlformats.org/officeDocument/2006/relationships/font" Target="fonts/Nunito-boldItalic.fntdata"/><Relationship Id="rId11" Type="http://schemas.openxmlformats.org/officeDocument/2006/relationships/slide" Target="slides/slide5.xml"/><Relationship Id="rId33" Type="http://schemas.openxmlformats.org/officeDocument/2006/relationships/font" Target="fonts/Lato-italic.fntdata"/><Relationship Id="rId10" Type="http://schemas.openxmlformats.org/officeDocument/2006/relationships/slide" Target="slides/slide4.xml"/><Relationship Id="rId32" Type="http://schemas.openxmlformats.org/officeDocument/2006/relationships/font" Target="fonts/La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La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593aff7e7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7593aff7e7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655db8b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7655db8b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655db8b3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7655db8b3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655db8b3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7655db8b3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655db8b3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655db8b3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655db8b3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7655db8b3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655db8b3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7655db8b3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655db8b3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7655db8b3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655db8b3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7655db8b3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655db8b3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7655db8b3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655db8b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7655db8b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655db8b3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655db8b3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655db8b3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7655db8b3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655db8b3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7655db8b3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7655db8b3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7655db8b3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14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78" name="Google Shape;78;p14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" name="Google Shape;81;p14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82" name="Google Shape;82;p14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" name="Google Shape;85;p14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86" name="Google Shape;86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14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90" name="Google Shape;90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" name="Google Shape;93;p14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94" name="Google Shape;94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4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5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103" name="Google Shape;103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" name="Google Shape;106;p15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07" name="Google Shape;107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5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" name="Google Shape;143;p20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144" name="Google Shape;144;p20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0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2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" name="Google Shape;148;p20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149" name="Google Shape;149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" name="Google Shape;152;p20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153" name="Google Shape;153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20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57" name="Google Shape;157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1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3" name="Google Shape;163;p21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" name="Google Shape;164;p21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5" name="Google Shape;165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71" name="Google Shape;171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" name="Google Shape;174;p23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75" name="Google Shape;175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" name="Google Shape;178;p2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79" name="Google Shape;179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23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youtube.com/watch?v=_W0bSen8Qjg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7.jp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Relationship Id="rId4" Type="http://schemas.openxmlformats.org/officeDocument/2006/relationships/image" Target="../media/image15.jpg"/><Relationship Id="rId5" Type="http://schemas.openxmlformats.org/officeDocument/2006/relationships/image" Target="../media/image20.jpg"/><Relationship Id="rId6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classroom.googl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731425" y="3193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Daily Typing Do-Now</a:t>
            </a:r>
            <a:endParaRPr/>
          </a:p>
        </p:txBody>
      </p:sp>
      <p:sp>
        <p:nvSpPr>
          <p:cNvPr id="192" name="Google Shape;192;p25"/>
          <p:cNvSpPr txBox="1"/>
          <p:nvPr>
            <p:ph idx="1" type="body"/>
          </p:nvPr>
        </p:nvSpPr>
        <p:spPr>
          <a:xfrm>
            <a:off x="819150" y="911100"/>
            <a:ext cx="7505700" cy="33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Open typing.com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Log into your account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Complete a 1 minute typing test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With the remaining 4 minutes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 sz="2400"/>
              <a:t>Work on a typing lesson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 sz="2400"/>
              <a:t>Play a typing game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 sz="2400"/>
              <a:t>Complete more typing tests</a:t>
            </a:r>
            <a:endParaRPr sz="2400"/>
          </a:p>
        </p:txBody>
      </p:sp>
      <p:pic>
        <p:nvPicPr>
          <p:cNvPr descr="This timer counts down silently until it reaches 0:00, then a police siren sounds to alert you that time is up." id="193" name="Google Shape;193;p25" title="5 Minute Time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3625" y="1714500"/>
            <a:ext cx="3048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5" title="istockphoto-1305893663-612x61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300" y="3429000"/>
            <a:ext cx="1343775" cy="134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5" title="download.png"/>
          <p:cNvPicPr preferRelativeResize="0"/>
          <p:nvPr/>
        </p:nvPicPr>
        <p:blipFill rotWithShape="1">
          <a:blip r:embed="rId6">
            <a:alphaModFix/>
          </a:blip>
          <a:srcRect b="0" l="0" r="14259" t="0"/>
          <a:stretch/>
        </p:blipFill>
        <p:spPr>
          <a:xfrm>
            <a:off x="7632175" y="3534675"/>
            <a:ext cx="1208725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type="ctrTitle"/>
          </p:nvPr>
        </p:nvSpPr>
        <p:spPr>
          <a:xfrm>
            <a:off x="2371725" y="630225"/>
            <a:ext cx="6331500" cy="34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Computer Science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Anatomy of a Computer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</a:t>
            </a:r>
            <a:endParaRPr/>
          </a:p>
        </p:txBody>
      </p:sp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2410100" y="1143775"/>
            <a:ext cx="6321600" cy="3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Week 2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Monday - Transistors / History of Computing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Tuesday - Anatomy of a Computer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Wednesday - Binary Day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Thursday - Binary Day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Friday - Binary Competition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Week 3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Monday - Binary Quiz (Formative)</a:t>
            </a:r>
            <a:endParaRPr/>
          </a:p>
        </p:txBody>
      </p:sp>
      <p:pic>
        <p:nvPicPr>
          <p:cNvPr id="207" name="Google Shape;207;p27" title="FREE-Calendar-Clipart-with-outline-W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25" y="1519088"/>
            <a:ext cx="2105313" cy="210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Functions of a Computer</a:t>
            </a:r>
            <a:endParaRPr/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2400250" y="1413875"/>
            <a:ext cx="6321600" cy="3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Computing</a:t>
            </a:r>
            <a:endParaRPr sz="2400"/>
          </a:p>
          <a:p>
            <a:pPr indent="-36957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400"/>
              <a:t>Performing Calculations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Data Storage</a:t>
            </a:r>
            <a:endParaRPr sz="2400"/>
          </a:p>
          <a:p>
            <a:pPr indent="-36957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400"/>
              <a:t>Remembering Things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Input / Output</a:t>
            </a:r>
            <a:endParaRPr sz="2400"/>
          </a:p>
          <a:p>
            <a:pPr indent="-36957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400"/>
              <a:t>Responding to user actions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214" name="Google Shape;214;p28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75" y="1524025"/>
            <a:ext cx="2095450" cy="20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Parts</a:t>
            </a:r>
            <a:endParaRPr/>
          </a:p>
        </p:txBody>
      </p:sp>
      <p:pic>
        <p:nvPicPr>
          <p:cNvPr id="220" name="Google Shape;220;p29" title="Custom_Computer_with_Open_Case_1_2018-05-0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825" y="1051175"/>
            <a:ext cx="5370527" cy="402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9"/>
          <p:cNvSpPr txBox="1"/>
          <p:nvPr/>
        </p:nvSpPr>
        <p:spPr>
          <a:xfrm>
            <a:off x="6188100" y="1051175"/>
            <a:ext cx="2635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Overview of Parts for..</a:t>
            </a:r>
            <a:endParaRPr b="1"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PC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Laptop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Gaming Console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Miniature Versions of the Same Parts exist for</a:t>
            </a:r>
            <a:endParaRPr b="1"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Phones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iPad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Smartwatch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Components</a:t>
            </a:r>
            <a:endParaRPr/>
          </a:p>
        </p:txBody>
      </p:sp>
      <p:pic>
        <p:nvPicPr>
          <p:cNvPr id="227" name="Google Shape;227;p30" title="istockphoto-1253567302-612x6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9838" y="1121375"/>
            <a:ext cx="3787526" cy="378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Processing Unit (CPU)</a:t>
            </a:r>
            <a:endParaRPr/>
          </a:p>
        </p:txBody>
      </p:sp>
      <p:sp>
        <p:nvSpPr>
          <p:cNvPr id="233" name="Google Shape;233;p31"/>
          <p:cNvSpPr txBox="1"/>
          <p:nvPr>
            <p:ph idx="1" type="body"/>
          </p:nvPr>
        </p:nvSpPr>
        <p:spPr>
          <a:xfrm>
            <a:off x="2400262" y="1396151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The “brain” of the computer.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Executes instructions and processes data.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Made up of billions of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transistors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that act like tiny switches, turning on and off to represent 1s and 0s.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Contains two main parts: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ALU (Arithmetic Logic Unit):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Handles math and logic.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Control Unit: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Directs the flow of data and instructions.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1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71611"/>
            <a:ext cx="2400250" cy="1597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Graphics Processing Unit (GPU)</a:t>
            </a:r>
            <a:endParaRPr/>
          </a:p>
        </p:txBody>
      </p:sp>
      <p:sp>
        <p:nvSpPr>
          <p:cNvPr id="240" name="Google Shape;240;p3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Special processor for images, video, and 3D graphics.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Optimized for parallel processing.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Often used today for AI and machine learning.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Can also be used to add extra computing power to just about any program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1" name="Google Shape;241;p32" title="R6zbNW4EyUFXHdD4Laq8tb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27612"/>
            <a:ext cx="2379950" cy="13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/>
          <p:nvPr>
            <p:ph type="title"/>
          </p:nvPr>
        </p:nvSpPr>
        <p:spPr>
          <a:xfrm>
            <a:off x="2400250" y="43502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Motherboard</a:t>
            </a:r>
            <a:endParaRPr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2400262" y="9999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The main circuit board of the computer.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Connects all the parts (CPU, memory, storage, graphics, power).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Allows communication between components.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Contains then BIOS that starts the computer and sets up hardware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33" title="640px-Computer-motherboard.jpg"/>
          <p:cNvPicPr preferRelativeResize="0"/>
          <p:nvPr/>
        </p:nvPicPr>
        <p:blipFill rotWithShape="1">
          <a:blip r:embed="rId3">
            <a:alphaModFix/>
          </a:blip>
          <a:srcRect b="16394" l="6661" r="6826" t="13035"/>
          <a:stretch/>
        </p:blipFill>
        <p:spPr>
          <a:xfrm>
            <a:off x="213725" y="3480675"/>
            <a:ext cx="2677450" cy="10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Storage Components</a:t>
            </a:r>
            <a:endParaRPr/>
          </a:p>
        </p:txBody>
      </p:sp>
      <p:pic>
        <p:nvPicPr>
          <p:cNvPr id="254" name="Google Shape;254;p34" title="bin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300" y="1754425"/>
            <a:ext cx="3399100" cy="226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4" title="opened-hard-driv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4475" y="1462588"/>
            <a:ext cx="3651325" cy="284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 Cache</a:t>
            </a:r>
            <a:endParaRPr/>
          </a:p>
        </p:txBody>
      </p:sp>
      <p:pic>
        <p:nvPicPr>
          <p:cNvPr id="261" name="Google Shape;261;p35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73123"/>
            <a:ext cx="2400250" cy="159726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2410100" y="1211350"/>
            <a:ext cx="6321600" cy="3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Data stored on the CPU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On average can store about 64KB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Stored by transistor (data is lost when powered off)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Typically only stores information about calculations currently ongoing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Example: 1000 + 2000 = 3000</a:t>
            </a:r>
            <a:endParaRPr sz="21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1000 and 2000 would be stored on the Cache</a:t>
            </a:r>
            <a:endParaRPr sz="2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(RAM) </a:t>
            </a:r>
            <a:endParaRPr/>
          </a:p>
        </p:txBody>
      </p:sp>
      <p:sp>
        <p:nvSpPr>
          <p:cNvPr id="268" name="Google Shape;268;p36"/>
          <p:cNvSpPr txBox="1"/>
          <p:nvPr>
            <p:ph idx="1" type="body"/>
          </p:nvPr>
        </p:nvSpPr>
        <p:spPr>
          <a:xfrm>
            <a:off x="2410100" y="1261225"/>
            <a:ext cx="6321600" cy="33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43495"/>
              <a:buFont typeface="Arial"/>
              <a:buNone/>
            </a:pPr>
            <a:r>
              <a:rPr lang="en" sz="2529">
                <a:latin typeface="Arial"/>
                <a:ea typeface="Arial"/>
                <a:cs typeface="Arial"/>
                <a:sym typeface="Arial"/>
              </a:rPr>
              <a:t>Short-term memory of the computer.</a:t>
            </a:r>
            <a:endParaRPr sz="252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43495"/>
              <a:buFont typeface="Arial"/>
              <a:buNone/>
            </a:pPr>
            <a:r>
              <a:rPr lang="en" sz="2529">
                <a:latin typeface="Arial"/>
                <a:ea typeface="Arial"/>
                <a:cs typeface="Arial"/>
                <a:sym typeface="Arial"/>
              </a:rPr>
              <a:t>Stores data and instructions the CPU is currently using.</a:t>
            </a:r>
            <a:endParaRPr sz="252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43495"/>
              <a:buFont typeface="Arial"/>
              <a:buNone/>
            </a:pPr>
            <a:r>
              <a:rPr lang="en" sz="2529">
                <a:latin typeface="Arial"/>
                <a:ea typeface="Arial"/>
                <a:cs typeface="Arial"/>
                <a:sym typeface="Arial"/>
              </a:rPr>
              <a:t>Very fast, but temporary—data is lost when the power is off.</a:t>
            </a:r>
            <a:endParaRPr sz="252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29">
                <a:latin typeface="Arial"/>
                <a:ea typeface="Arial"/>
                <a:cs typeface="Arial"/>
                <a:sym typeface="Arial"/>
              </a:rPr>
              <a:t>Built from </a:t>
            </a:r>
            <a:r>
              <a:rPr b="1" lang="en" sz="2529">
                <a:latin typeface="Arial"/>
                <a:ea typeface="Arial"/>
                <a:cs typeface="Arial"/>
                <a:sym typeface="Arial"/>
              </a:rPr>
              <a:t>transistors</a:t>
            </a:r>
            <a:r>
              <a:rPr lang="en" sz="2529">
                <a:latin typeface="Arial"/>
                <a:ea typeface="Arial"/>
                <a:cs typeface="Arial"/>
                <a:sym typeface="Arial"/>
              </a:rPr>
              <a:t> that hold bits of data.</a:t>
            </a:r>
            <a:endParaRPr sz="252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29">
                <a:latin typeface="Arial"/>
                <a:ea typeface="Arial"/>
                <a:cs typeface="Arial"/>
                <a:sym typeface="Arial"/>
              </a:rPr>
              <a:t>On average can store around 8GB of data</a:t>
            </a:r>
            <a:endParaRPr sz="252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9" name="Google Shape;269;p36" title="7dr4ML5wSoiYJJgDNTprcR-1200-8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16050"/>
            <a:ext cx="2342775" cy="156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/>
          <p:nvPr>
            <p:ph type="title"/>
          </p:nvPr>
        </p:nvSpPr>
        <p:spPr>
          <a:xfrm>
            <a:off x="2410100" y="50550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(Hard Drive / SSD)</a:t>
            </a:r>
            <a:endParaRPr/>
          </a:p>
        </p:txBody>
      </p:sp>
      <p:sp>
        <p:nvSpPr>
          <p:cNvPr id="275" name="Google Shape;275;p37"/>
          <p:cNvSpPr txBox="1"/>
          <p:nvPr>
            <p:ph idx="1" type="body"/>
          </p:nvPr>
        </p:nvSpPr>
        <p:spPr>
          <a:xfrm>
            <a:off x="2410100" y="1085075"/>
            <a:ext cx="6321600" cy="3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Long-term memory of the computer.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Stores files, applications, and the operating system.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Hard Drive (HDD):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Uses spinning disks and magnets.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1s and 0s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physically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etched into the disk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Think vinyl record player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Solid State Drive (SSD):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Uses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transistors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in flash memory for faster access.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Retains some electrical charge in the SSD when powered off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37" title="opened-hard-driv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5075"/>
            <a:ext cx="2335660" cy="182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7" title="ktc-product-ssd-kc3000-512gb-2-sm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175" y="3057649"/>
            <a:ext cx="2105300" cy="1677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Storage Hierarchy</a:t>
            </a:r>
            <a:endParaRPr/>
          </a:p>
        </p:txBody>
      </p:sp>
      <p:pic>
        <p:nvPicPr>
          <p:cNvPr id="283" name="Google Shape;283;p38" title="storage_pyramid.png"/>
          <p:cNvPicPr preferRelativeResize="0"/>
          <p:nvPr/>
        </p:nvPicPr>
        <p:blipFill rotWithShape="1">
          <a:blip r:embed="rId3">
            <a:alphaModFix/>
          </a:blip>
          <a:srcRect b="8677" l="9546" r="10836" t="6086"/>
          <a:stretch/>
        </p:blipFill>
        <p:spPr>
          <a:xfrm>
            <a:off x="1165679" y="1051175"/>
            <a:ext cx="6795846" cy="409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9"/>
          <p:cNvSpPr txBox="1"/>
          <p:nvPr>
            <p:ph type="title"/>
          </p:nvPr>
        </p:nvSpPr>
        <p:spPr>
          <a:xfrm>
            <a:off x="311700" y="200200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/ Output Devices</a:t>
            </a:r>
            <a:endParaRPr/>
          </a:p>
        </p:txBody>
      </p:sp>
      <p:pic>
        <p:nvPicPr>
          <p:cNvPr id="289" name="Google Shape;289;p39" title="s-l120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250" y="951650"/>
            <a:ext cx="3525550" cy="176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9" title="61Mzk2NljxL._UF1000,1000_QL80_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650" y="2824775"/>
            <a:ext cx="2144550" cy="21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9" title="81dr15aerZL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5476" y="265613"/>
            <a:ext cx="2970998" cy="2447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9" title="yu2mb_mai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5338" y="2824764"/>
            <a:ext cx="2971267" cy="1782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/>
          <p:nvPr>
            <p:ph type="title"/>
          </p:nvPr>
        </p:nvSpPr>
        <p:spPr>
          <a:xfrm>
            <a:off x="283100" y="486175"/>
            <a:ext cx="8491500" cy="446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Parts </a:t>
            </a:r>
            <a:r>
              <a:rPr lang="en"/>
              <a:t>Blooket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Go to </a:t>
            </a:r>
            <a:r>
              <a:rPr b="0" lang="en" u="sng">
                <a:hlinkClick r:id="rId3"/>
              </a:rPr>
              <a:t>classroom.google.com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Select our class 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Click on the Computer parts Blooket</a:t>
            </a:r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