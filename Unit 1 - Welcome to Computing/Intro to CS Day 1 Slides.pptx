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Proxima Nova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roximaNova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6" Type="http://schemas.openxmlformats.org/officeDocument/2006/relationships/font" Target="fonts/ProximaNova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4a55eadf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4a55eadf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74a55eadf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4a55eadf4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4a55eadf4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74a55eadf4_0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4a55eadf4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4a55eadf4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74a55eadf4_0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4dcee531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4dcee531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74dcee531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4a55eadf4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4a55eadf4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74a55eadf4_0_1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4bedc798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4bedc798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4bedc798d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4a55eadf4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4a55eadf4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74a55eadf4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442b35e4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442b35e4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7442b35e4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2"/>
          <p:cNvCxnSpPr/>
          <p:nvPr/>
        </p:nvCxnSpPr>
        <p:spPr>
          <a:xfrm>
            <a:off x="0" y="4797040"/>
            <a:ext cx="14630400" cy="0"/>
          </a:xfrm>
          <a:prstGeom prst="straightConnector1">
            <a:avLst/>
          </a:prstGeom>
          <a:noFill/>
          <a:ln cap="flat" cmpd="sng" w="304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2"/>
          <p:cNvSpPr txBox="1"/>
          <p:nvPr>
            <p:ph type="ctrTitle"/>
          </p:nvPr>
        </p:nvSpPr>
        <p:spPr>
          <a:xfrm>
            <a:off x="816720" y="2011680"/>
            <a:ext cx="12996900" cy="25416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816720" y="5091700"/>
            <a:ext cx="12996900" cy="1008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3"/>
          <p:cNvCxnSpPr/>
          <p:nvPr/>
        </p:nvCxnSpPr>
        <p:spPr>
          <a:xfrm>
            <a:off x="0" y="4797040"/>
            <a:ext cx="14630400" cy="0"/>
          </a:xfrm>
          <a:prstGeom prst="straightConnector1">
            <a:avLst/>
          </a:prstGeom>
          <a:noFill/>
          <a:ln cap="flat" cmpd="sng" w="304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 txBox="1"/>
          <p:nvPr>
            <p:ph type="title"/>
          </p:nvPr>
        </p:nvSpPr>
        <p:spPr>
          <a:xfrm>
            <a:off x="816720" y="3291840"/>
            <a:ext cx="12996900" cy="12462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8073120"/>
            <a:ext cx="14630400" cy="15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98720" y="1843960"/>
            <a:ext cx="63999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7731840" y="1843960"/>
            <a:ext cx="63999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498720" y="888960"/>
            <a:ext cx="4492800" cy="12090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498720" y="2223360"/>
            <a:ext cx="4492800" cy="5087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784400" y="842160"/>
            <a:ext cx="9276000" cy="65454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7315200" y="120"/>
            <a:ext cx="7315200" cy="822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8047480" y="7192800"/>
            <a:ext cx="749400" cy="0"/>
          </a:xfrm>
          <a:prstGeom prst="straightConnector1">
            <a:avLst/>
          </a:prstGeom>
          <a:noFill/>
          <a:ln cap="flat" cmpd="sng" w="304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424800" y="1929320"/>
            <a:ext cx="6472200" cy="2415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424800" y="4430402"/>
            <a:ext cx="6472200" cy="2152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7903200" y="1158720"/>
            <a:ext cx="6139200" cy="59121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●"/>
              <a:defRPr>
                <a:solidFill>
                  <a:schemeClr val="lt1"/>
                </a:solidFill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98720" y="6778920"/>
            <a:ext cx="9598200" cy="958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0" y="8073120"/>
            <a:ext cx="14630400" cy="15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498720" y="1586360"/>
            <a:ext cx="13632900" cy="3068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b="1"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b="1"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b="1"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b="1"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b="1"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b="1"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b="1"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b="1"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b="1" sz="224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498720" y="4914080"/>
            <a:ext cx="13632900" cy="1443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ctr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 1">
  <p:cSld name="TITLE_AND_TWO_COLUMNS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731520" y="0"/>
            <a:ext cx="13167300" cy="15546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408041" y="1920240"/>
            <a:ext cx="5734500" cy="5729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69900" lvl="0" marL="457200">
              <a:spcBef>
                <a:spcPts val="0"/>
              </a:spcBef>
              <a:spcAft>
                <a:spcPts val="0"/>
              </a:spcAft>
              <a:buSzPts val="3800"/>
              <a:buChar char="●"/>
              <a:defRPr sz="38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469900" lvl="3" marL="1828800">
              <a:spcBef>
                <a:spcPts val="0"/>
              </a:spcBef>
              <a:spcAft>
                <a:spcPts val="0"/>
              </a:spcAft>
              <a:buSzPts val="3800"/>
              <a:buChar char="●"/>
              <a:defRPr sz="3800"/>
            </a:lvl4pPr>
            <a:lvl5pPr indent="-469900" lvl="4" marL="2286000">
              <a:spcBef>
                <a:spcPts val="0"/>
              </a:spcBef>
              <a:spcAft>
                <a:spcPts val="0"/>
              </a:spcAft>
              <a:buSzPts val="3800"/>
              <a:buChar char="○"/>
              <a:defRPr sz="3800"/>
            </a:lvl5pPr>
            <a:lvl6pPr indent="-469900" lvl="5" marL="2743200">
              <a:spcBef>
                <a:spcPts val="0"/>
              </a:spcBef>
              <a:spcAft>
                <a:spcPts val="0"/>
              </a:spcAft>
              <a:buSzPts val="3800"/>
              <a:buChar char="■"/>
              <a:defRPr sz="3800"/>
            </a:lvl6pPr>
            <a:lvl7pPr indent="-469900" lvl="6" marL="3200400">
              <a:spcBef>
                <a:spcPts val="0"/>
              </a:spcBef>
              <a:spcAft>
                <a:spcPts val="0"/>
              </a:spcAft>
              <a:buSzPts val="3800"/>
              <a:buChar char="●"/>
              <a:defRPr sz="3800"/>
            </a:lvl7pPr>
            <a:lvl8pPr indent="-469900" lvl="7" marL="3657600">
              <a:spcBef>
                <a:spcPts val="0"/>
              </a:spcBef>
              <a:spcAft>
                <a:spcPts val="0"/>
              </a:spcAft>
              <a:buSzPts val="3800"/>
              <a:buChar char="○"/>
              <a:defRPr sz="3800"/>
            </a:lvl8pPr>
            <a:lvl9pPr indent="-469900" lvl="8" marL="4114800">
              <a:spcBef>
                <a:spcPts val="0"/>
              </a:spcBef>
              <a:spcAft>
                <a:spcPts val="0"/>
              </a:spcAft>
              <a:buSzPts val="3800"/>
              <a:buChar char="■"/>
              <a:defRPr sz="3800"/>
            </a:lvl9pPr>
          </a:lstStyle>
          <a:p/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7487799" y="1920240"/>
            <a:ext cx="5734500" cy="5729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69900" lvl="0" marL="457200">
              <a:spcBef>
                <a:spcPts val="0"/>
              </a:spcBef>
              <a:spcAft>
                <a:spcPts val="0"/>
              </a:spcAft>
              <a:buSzPts val="3800"/>
              <a:buChar char="●"/>
              <a:defRPr sz="38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469900" lvl="3" marL="1828800">
              <a:spcBef>
                <a:spcPts val="0"/>
              </a:spcBef>
              <a:spcAft>
                <a:spcPts val="0"/>
              </a:spcAft>
              <a:buSzPts val="3800"/>
              <a:buChar char="●"/>
              <a:defRPr sz="3800"/>
            </a:lvl4pPr>
            <a:lvl5pPr indent="-469900" lvl="4" marL="2286000">
              <a:spcBef>
                <a:spcPts val="0"/>
              </a:spcBef>
              <a:spcAft>
                <a:spcPts val="0"/>
              </a:spcAft>
              <a:buSzPts val="3800"/>
              <a:buChar char="○"/>
              <a:defRPr sz="3800"/>
            </a:lvl5pPr>
            <a:lvl6pPr indent="-469900" lvl="5" marL="2743200">
              <a:spcBef>
                <a:spcPts val="0"/>
              </a:spcBef>
              <a:spcAft>
                <a:spcPts val="0"/>
              </a:spcAft>
              <a:buSzPts val="3800"/>
              <a:buChar char="■"/>
              <a:defRPr sz="3800"/>
            </a:lvl6pPr>
            <a:lvl7pPr indent="-469900" lvl="6" marL="3200400">
              <a:spcBef>
                <a:spcPts val="0"/>
              </a:spcBef>
              <a:spcAft>
                <a:spcPts val="0"/>
              </a:spcAft>
              <a:buSzPts val="3800"/>
              <a:buChar char="●"/>
              <a:defRPr sz="3800"/>
            </a:lvl7pPr>
            <a:lvl8pPr indent="-469900" lvl="7" marL="3657600">
              <a:spcBef>
                <a:spcPts val="0"/>
              </a:spcBef>
              <a:spcAft>
                <a:spcPts val="0"/>
              </a:spcAft>
              <a:buSzPts val="3800"/>
              <a:buChar char="○"/>
              <a:defRPr sz="3800"/>
            </a:lvl8pPr>
            <a:lvl9pPr indent="-469900" lvl="8" marL="4114800">
              <a:spcBef>
                <a:spcPts val="0"/>
              </a:spcBef>
              <a:spcAft>
                <a:spcPts val="0"/>
              </a:spcAft>
              <a:buSzPts val="3800"/>
              <a:buChar char="■"/>
              <a:defRPr sz="3800"/>
            </a:lvl9pPr>
          </a:lstStyle>
          <a:p/>
        </p:txBody>
      </p:sp>
      <p:cxnSp>
        <p:nvCxnSpPr>
          <p:cNvPr id="67" name="Google Shape;67;p14"/>
          <p:cNvCxnSpPr/>
          <p:nvPr/>
        </p:nvCxnSpPr>
        <p:spPr>
          <a:xfrm>
            <a:off x="4845840" y="1554489"/>
            <a:ext cx="4938600" cy="0"/>
          </a:xfrm>
          <a:prstGeom prst="straightConnector1">
            <a:avLst/>
          </a:prstGeom>
          <a:noFill/>
          <a:ln cap="flat" cmpd="sng" w="304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4"/>
          <p:cNvSpPr/>
          <p:nvPr/>
        </p:nvSpPr>
        <p:spPr>
          <a:xfrm>
            <a:off x="40" y="7963200"/>
            <a:ext cx="14630400" cy="26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6876240" y="7477841"/>
            <a:ext cx="877800" cy="6297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roxima Nova"/>
              <a:buNone/>
              <a:defRPr sz="4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roxima Nova"/>
              <a:buNone/>
              <a:defRPr sz="4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roxima Nova"/>
              <a:buNone/>
              <a:defRPr sz="4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roxima Nova"/>
              <a:buNone/>
              <a:defRPr sz="4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roxima Nova"/>
              <a:buNone/>
              <a:defRPr sz="4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roxima Nova"/>
              <a:buNone/>
              <a:defRPr sz="4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roxima Nova"/>
              <a:buNone/>
              <a:defRPr sz="4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roxima Nova"/>
              <a:buNone/>
              <a:defRPr sz="4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roxima Nova"/>
              <a:buNone/>
              <a:defRPr sz="4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Proxima Nova"/>
              <a:buChar char="●"/>
              <a:defRPr sz="2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Proxima Nova"/>
              <a:buChar char="○"/>
              <a:defRPr sz="2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Proxima Nova"/>
              <a:buChar char="■"/>
              <a:defRPr sz="2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Proxima Nova"/>
              <a:buChar char="●"/>
              <a:defRPr sz="2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Proxima Nova"/>
              <a:buChar char="○"/>
              <a:defRPr sz="2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Proxima Nova"/>
              <a:buChar char="■"/>
              <a:defRPr sz="2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Proxima Nova"/>
              <a:buChar char="●"/>
              <a:defRPr sz="2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Proxima Nova"/>
              <a:buChar char="○"/>
              <a:defRPr sz="2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Proxima Nova"/>
              <a:buChar char="■"/>
              <a:defRPr sz="2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r">
              <a:buNone/>
              <a:defRPr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jpg"/><Relationship Id="rId5" Type="http://schemas.openxmlformats.org/officeDocument/2006/relationships/image" Target="../media/image6.jpg"/><Relationship Id="rId6" Type="http://schemas.openxmlformats.org/officeDocument/2006/relationships/image" Target="../media/image8.jpg"/><Relationship Id="rId7" Type="http://schemas.openxmlformats.org/officeDocument/2006/relationships/image" Target="../media/image7.jpg"/><Relationship Id="rId8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jeopardylabs.com/play/technology-169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ctrTitle"/>
          </p:nvPr>
        </p:nvSpPr>
        <p:spPr>
          <a:xfrm>
            <a:off x="816720" y="2011680"/>
            <a:ext cx="12996900" cy="25416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Computer Science</a:t>
            </a:r>
            <a:endParaRPr/>
          </a:p>
        </p:txBody>
      </p:sp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816720" y="5091700"/>
            <a:ext cx="12996900" cy="1008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9th &amp; 10th Grade, Fall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4950"/>
              <a:t>What can I expect in Intro to Computer Science?</a:t>
            </a:r>
            <a:endParaRPr sz="4950"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498748" y="2257300"/>
            <a:ext cx="71898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Char char="●"/>
            </a:pPr>
            <a:r>
              <a:rPr lang="en-US" sz="4200"/>
              <a:t>Overview of the broad field of Computer Science</a:t>
            </a:r>
            <a:endParaRPr sz="4200"/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Char char="●"/>
            </a:pPr>
            <a:r>
              <a:rPr lang="en-US" sz="4200"/>
              <a:t>Lots of different topics covered quickly</a:t>
            </a:r>
            <a:endParaRPr sz="4200"/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Char char="●"/>
            </a:pPr>
            <a:r>
              <a:rPr lang="en-US" sz="4200"/>
              <a:t>Start of a pathway that can lead to future opportunities</a:t>
            </a:r>
            <a:endParaRPr sz="4200"/>
          </a:p>
        </p:txBody>
      </p:sp>
      <p:pic>
        <p:nvPicPr>
          <p:cNvPr id="88" name="Google Shape;88;p17" title="1a5uk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1075" y="2257305"/>
            <a:ext cx="6615126" cy="4673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5400"/>
              <a:t>Class Overview</a:t>
            </a:r>
            <a:endParaRPr sz="5400"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-508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Char char="●"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 1: Computing (3 weeks)</a:t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Char char="●"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 2: The Internet (3 weeks)</a:t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Char char="●"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 3: Python Programming (6 weeks) </a:t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Char char="●"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 4: Artificial Intelligence (2 weeks)</a:t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Char char="●"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 5: Game Development (5 weeks)</a:t>
            </a:r>
            <a:endParaRPr sz="4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498745" y="317465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4750"/>
              <a:t>AI Policy</a:t>
            </a:r>
            <a:endParaRPr sz="4750"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498725" y="1510650"/>
            <a:ext cx="14110800" cy="5818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99"/>
              <a:t>Guiding principles</a:t>
            </a:r>
            <a:endParaRPr sz="4199"/>
          </a:p>
          <a:p>
            <a:pPr indent="-495209" lvl="0" marL="457200" rtl="0" algn="l">
              <a:lnSpc>
                <a:spcPct val="95000"/>
              </a:lnSpc>
              <a:spcBef>
                <a:spcPts val="1900"/>
              </a:spcBef>
              <a:spcAft>
                <a:spcPts val="0"/>
              </a:spcAft>
              <a:buSzPts val="4199"/>
              <a:buAutoNum type="arabicPeriod"/>
            </a:pPr>
            <a:r>
              <a:rPr lang="en-US" sz="4199"/>
              <a:t>AI is not going away and is an important tool.</a:t>
            </a:r>
            <a:endParaRPr sz="4199"/>
          </a:p>
          <a:p>
            <a:pPr indent="-49520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199"/>
              <a:buAutoNum type="arabicPeriod"/>
            </a:pPr>
            <a:r>
              <a:rPr lang="en-US" sz="4199"/>
              <a:t>AI can also be a hindrance to learning critical skills and reduces cognitive load.</a:t>
            </a:r>
            <a:endParaRPr sz="4199"/>
          </a:p>
          <a:p>
            <a:pPr indent="-49520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199"/>
              <a:buAutoNum type="arabicPeriod"/>
            </a:pPr>
            <a:r>
              <a:rPr lang="en-US" sz="4199"/>
              <a:t>AI cannot fully automate human tasks.</a:t>
            </a:r>
            <a:endParaRPr sz="4199"/>
          </a:p>
          <a:p>
            <a:pPr indent="0" lvl="0" marL="0" rtl="0" algn="l">
              <a:lnSpc>
                <a:spcPct val="9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US" sz="4199"/>
              <a:t>We will learn about AI in this class, but I ask that you refrain from using AI tools unless you are specifically given permission to do so on a assignment.</a:t>
            </a:r>
            <a:endParaRPr sz="4199"/>
          </a:p>
          <a:p>
            <a:pPr indent="0" lvl="0" marL="0" rtl="0" algn="l">
              <a:lnSpc>
                <a:spcPct val="95000"/>
              </a:lnSpc>
              <a:spcBef>
                <a:spcPts val="1900"/>
              </a:spcBef>
              <a:spcAft>
                <a:spcPts val="1900"/>
              </a:spcAft>
              <a:buNone/>
            </a:pPr>
            <a:r>
              <a:t/>
            </a:r>
            <a:endParaRPr sz="3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STEM Certificate Pathway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Students who earn 30 credits in a STEM field are eligible to earn a certificate in a STEM field including Computer Sciecne</a:t>
            </a:r>
            <a:endParaRPr/>
          </a:p>
          <a:p>
            <a:pPr indent="-412750" lvl="0" marL="457200" rtl="0" algn="l">
              <a:spcBef>
                <a:spcPts val="1900"/>
              </a:spcBef>
              <a:spcAft>
                <a:spcPts val="0"/>
              </a:spcAft>
              <a:buSzPts val="2900"/>
              <a:buChar char="-"/>
            </a:pPr>
            <a:r>
              <a:rPr lang="en-US"/>
              <a:t>Intro to Computer Science</a:t>
            </a:r>
            <a:endParaRPr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-"/>
            </a:pPr>
            <a:r>
              <a:rPr lang="en-US"/>
              <a:t>AP Computer Science Principles</a:t>
            </a:r>
            <a:endParaRPr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-"/>
            </a:pPr>
            <a:r>
              <a:rPr lang="en-US"/>
              <a:t>AP Computer Science A</a:t>
            </a:r>
            <a:endParaRPr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-"/>
            </a:pPr>
            <a:r>
              <a:rPr lang="en-US"/>
              <a:t>+Math classes &amp; clubs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498745" y="4413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About Me</a:t>
            </a:r>
            <a:endParaRPr/>
          </a:p>
        </p:txBody>
      </p:sp>
      <p:pic>
        <p:nvPicPr>
          <p:cNvPr id="116" name="Google Shape;116;p21" title="University_of_Texas_at_Austin_seal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725" y="1509950"/>
            <a:ext cx="3516825" cy="351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d4723af8-311f-4d91-bdab-c547804e25f8_1140x64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5050" y="1509950"/>
            <a:ext cx="5752175" cy="3234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 title="dRN4JBAQwvJgwDoquBEE8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5524625"/>
            <a:ext cx="4746451" cy="2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 title="general-contact-1800x900.jpg"/>
          <p:cNvPicPr preferRelativeResize="0"/>
          <p:nvPr/>
        </p:nvPicPr>
        <p:blipFill rotWithShape="1">
          <a:blip r:embed="rId6">
            <a:alphaModFix/>
          </a:blip>
          <a:srcRect b="0" l="0" r="5348" t="0"/>
          <a:stretch/>
        </p:blipFill>
        <p:spPr>
          <a:xfrm>
            <a:off x="5256374" y="5524625"/>
            <a:ext cx="5120852" cy="2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 title="IMG_3035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87925" y="441362"/>
            <a:ext cx="3343725" cy="4454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 title="images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78612" y="6267506"/>
            <a:ext cx="3762375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idx="4294967295" type="title"/>
          </p:nvPr>
        </p:nvSpPr>
        <p:spPr>
          <a:xfrm>
            <a:off x="816750" y="1221307"/>
            <a:ext cx="12996900" cy="5787000"/>
          </a:xfrm>
          <a:prstGeom prst="rect">
            <a:avLst/>
          </a:prstGeom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</a:rPr>
              <a:t>Role Call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lt1"/>
              </a:solidFill>
            </a:endParaRPr>
          </a:p>
          <a:p>
            <a:pPr indent="-546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AutoNum type="arabicPeriod"/>
            </a:pPr>
            <a:r>
              <a:rPr lang="en-US" sz="5000">
                <a:solidFill>
                  <a:schemeClr val="lt1"/>
                </a:solidFill>
              </a:rPr>
              <a:t>Your name</a:t>
            </a:r>
            <a:endParaRPr sz="5000">
              <a:solidFill>
                <a:schemeClr val="lt1"/>
              </a:solidFill>
            </a:endParaRPr>
          </a:p>
          <a:p>
            <a:pPr indent="-546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AutoNum type="arabicPeriod"/>
            </a:pPr>
            <a:r>
              <a:rPr lang="en-US" sz="5000">
                <a:solidFill>
                  <a:schemeClr val="lt1"/>
                </a:solidFill>
              </a:rPr>
              <a:t>What are you are most excited about learning in this class?</a:t>
            </a:r>
            <a:endParaRPr sz="5000">
              <a:solidFill>
                <a:schemeClr val="lt1"/>
              </a:solidFill>
            </a:endParaRPr>
          </a:p>
          <a:p>
            <a:pPr indent="-546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AutoNum type="arabicPeriod"/>
            </a:pPr>
            <a:r>
              <a:rPr lang="en-US" sz="5000">
                <a:solidFill>
                  <a:schemeClr val="lt1"/>
                </a:solidFill>
              </a:rPr>
              <a:t>What is 1 highlight from winter break (or last semester)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idx="4294967295" type="title"/>
          </p:nvPr>
        </p:nvSpPr>
        <p:spPr>
          <a:xfrm>
            <a:off x="816750" y="776020"/>
            <a:ext cx="12996900" cy="6903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lt1"/>
                </a:solidFill>
              </a:rPr>
              <a:t>Class Activity</a:t>
            </a:r>
            <a:endParaRPr sz="7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lt1"/>
                </a:solidFill>
              </a:rPr>
              <a:t>Computer Science Trivia</a:t>
            </a:r>
            <a:endParaRPr sz="7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u="sng">
                <a:solidFill>
                  <a:schemeClr val="hlink"/>
                </a:solidFill>
                <a:hlinkClick r:id="rId3"/>
              </a:rPr>
              <a:t>https://jeopardylabs.com/play/technology-1691</a:t>
            </a:r>
            <a:endParaRPr sz="7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